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2" r:id="rId24"/>
    <p:sldId id="258" r:id="rId4"/>
    <p:sldId id="259" r:id="rId5"/>
    <p:sldId id="261" r:id="rId7"/>
    <p:sldId id="262" r:id="rId8"/>
    <p:sldId id="264" r:id="rId10"/>
    <p:sldId id="266" r:id="rId12"/>
    <p:sldId id="265" r:id="rId11"/>
    <p:sldId id="267" r:id="rId13"/>
    <p:sldId id="269" r:id="rId15"/>
    <p:sldId id="268" r:id="rId14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1FCC56-6B9D-E5D3-F076-49EE075E967B}" v="336" dt="2026-10-23T17:56:04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10.xml"/><Relationship Id="rId12" Type="http://schemas.openxmlformats.org/officeDocument/2006/relationships/slide" Target="slides/slide9.xml"/><Relationship Id="rId13" Type="http://schemas.openxmlformats.org/officeDocument/2006/relationships/slide" Target="slides/slide11.xml"/><Relationship Id="rId14" Type="http://schemas.openxmlformats.org/officeDocument/2006/relationships/slide" Target="slides/slide13.xml"/><Relationship Id="rId15" Type="http://schemas.openxmlformats.org/officeDocument/2006/relationships/slide" Target="slides/slide12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5/10/relationships/revisionInfo" Target="revisionInfo.xml"/><Relationship Id="rId24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43962B-02E9-47F9-9B60-C29F882A7691}" type="datetimeFigureOut">
              <a:t>23/10/2026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AADC4E-727E-4FF7-9C51-1CB1C197A1D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202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Giới thiệu đề tài: hệ thống truy xuất thông tin cho bài báo khoa học arXiv, tích hợp đồ thị tri thức và chatbot hỏi đáp có trích dẫn.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Bố cục bám theo 7 yêu cầu của đề bài.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arXiv nhận hơn 20.000 bài mỗi tháng. Tìm theo từ khoá bỏ sót cách diễn đạt khác; chatbot LLM thuần dễ bịa trích dẫn. Hệ thống kết hợp truy xuất ngữ nghĩa, quan hệ giữa các bài và LLM để trả lời có nguồn.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Nói theo góc nhìn người dùng: hệ thống giúp tìm, đọc và hỏi về tài liệu khoa học. Số liệu hiệu năng đo thật trên máy tính thường: tìm kiếm khoảng 0,3 giây, thêm một bài 16 trang khoảng 30 giây.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Kênh 1 dùng arXiv API; tải PDF là một tuỳ chọn của kênh này chứ không phải kênh riêng. 6 chủ đề: retrieval augmented generation, dense retrieval, graph neural network, knowledge graph QA, danh mục cs.IR từ 2025, và 12 bài kinh điển theo mã bài.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Bốn kho, mỗi kho trả lời một kiểu câu hỏi. Kiểm tra trùng theo 3 lớp: nội dung file, mã bài arXiv, tiêu đề gần giống; bắt được 95% tiêu đề bị viết khác và không báo nhầm bài thật nào.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RRF chỉ dùng thứ hạng nên không phải chuẩn hoá thang điểm giữa BM25 và cosine.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Điểm liên quan cộng dồn theo đường đi 1–2 bước; thực thể phổ biến bị giảm trọng số theo log bậc.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Auto: có focus thì Research, câu chào ngắn thì Chat. Câu hỏi được viết lại thành truy vấn tiếng Anh độc lập trước khi truy xuất.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Module llm_server: dò GPU, chọn float16 cho T4, tensor-parallel 2, chờ server sẵn sàng, mở tunnel cloudflared và in 4 dòng .env cho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Trái: khung chat với câu trả lời tiếng Việt có trích dẫn, danh sách nguồn và đồ thị của câu trả lời. Phải: đồ thị mở toàn màn hình, thấy rõ REALM, RAG, DPR trích dẫn nhau.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Known-item: truy vấn = tiêu đề, kho = abstract không chứa tiêu đề. Dedup: biến đổi tiêu đề (chữ thường, bỏ dấu câu, bỏ 1 từ, thêm hậu tố) và kiểm tra nhầm trên toàn bộ tiêu đề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Chuẩn bị: python -m scholarlens.app; 4 PDF trong demo_pdfs/ chưa có trong kho.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Tóm tắt đóng góp, nêu hạn chế thật và hướng mở rộng.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ScholarLens giống một thủ thư số cho tài liệu khoa học: tìm đúng bài, đọc hộ và trả lời có dẫn nguồn. Phần AI viết câu trả lời chạy trên máy chủ GPU miễn phí của Kaggle; ứng dụng và dữ liệu nằm ở máy của nhóm.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615107"/>
            <a:ext cx="6858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mbria"/>
              </a:rPr>
              <a:t>ScholarLens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18440"/>
            <a:ext cx="681478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1" dirty="0" err="1">
                <a:solidFill>
                  <a:srgbClr val="E8E6DC"/>
                </a:solidFill>
                <a:latin typeface="Calibri"/>
              </a:rPr>
              <a:t>Hệ</a:t>
            </a:r>
            <a:r>
              <a:rPr b="0" i="1" dirty="0">
                <a:solidFill>
                  <a:srgbClr val="E8E6DC"/>
                </a:solidFill>
                <a:latin typeface="Calibri"/>
              </a:rPr>
              <a:t> </a:t>
            </a:r>
            <a:r>
              <a:rPr b="0" i="1" dirty="0" err="1">
                <a:solidFill>
                  <a:srgbClr val="E8E6DC"/>
                </a:solidFill>
                <a:latin typeface="Calibri"/>
              </a:rPr>
              <a:t>thống</a:t>
            </a:r>
            <a:r>
              <a:rPr b="0" i="1" dirty="0">
                <a:solidFill>
                  <a:srgbClr val="E8E6DC"/>
                </a:solidFill>
                <a:latin typeface="Calibri"/>
              </a:rPr>
              <a:t> </a:t>
            </a:r>
            <a:r>
              <a:rPr b="0" i="1" dirty="0" err="1">
                <a:solidFill>
                  <a:srgbClr val="E8E6DC"/>
                </a:solidFill>
                <a:latin typeface="Calibri"/>
              </a:rPr>
              <a:t>truy</a:t>
            </a:r>
            <a:r>
              <a:rPr b="0" i="1" dirty="0">
                <a:solidFill>
                  <a:srgbClr val="E8E6DC"/>
                </a:solidFill>
                <a:latin typeface="Calibri"/>
              </a:rPr>
              <a:t> </a:t>
            </a:r>
            <a:r>
              <a:rPr b="0" i="1" dirty="0" err="1">
                <a:solidFill>
                  <a:srgbClr val="E8E6DC"/>
                </a:solidFill>
                <a:latin typeface="Calibri"/>
              </a:rPr>
              <a:t>xuất</a:t>
            </a:r>
            <a:r>
              <a:rPr b="0" i="1" dirty="0">
                <a:solidFill>
                  <a:srgbClr val="E8E6DC"/>
                </a:solidFill>
                <a:latin typeface="Calibri"/>
              </a:rPr>
              <a:t> </a:t>
            </a:r>
            <a:r>
              <a:rPr b="0" i="1" dirty="0" err="1">
                <a:solidFill>
                  <a:srgbClr val="E8E6DC"/>
                </a:solidFill>
                <a:latin typeface="Calibri"/>
              </a:rPr>
              <a:t>bài</a:t>
            </a:r>
            <a:r>
              <a:rPr b="0" i="1" dirty="0">
                <a:solidFill>
                  <a:srgbClr val="E8E6DC"/>
                </a:solidFill>
                <a:latin typeface="Calibri"/>
              </a:rPr>
              <a:t> </a:t>
            </a:r>
            <a:r>
              <a:rPr b="0" i="1" dirty="0" err="1">
                <a:solidFill>
                  <a:srgbClr val="E8E6DC"/>
                </a:solidFill>
                <a:latin typeface="Calibri"/>
              </a:rPr>
              <a:t>báo</a:t>
            </a:r>
            <a:r>
              <a:rPr b="0" i="1" dirty="0">
                <a:solidFill>
                  <a:srgbClr val="E8E6DC"/>
                </a:solidFill>
                <a:latin typeface="Calibri"/>
              </a:rPr>
              <a:t> arXiv </a:t>
            </a:r>
            <a:r>
              <a:rPr b="0" i="1" dirty="0" err="1">
                <a:solidFill>
                  <a:srgbClr val="E8E6DC"/>
                </a:solidFill>
                <a:latin typeface="Calibri"/>
              </a:rPr>
              <a:t>với</a:t>
            </a:r>
            <a:r>
              <a:rPr b="0" i="1" dirty="0">
                <a:solidFill>
                  <a:srgbClr val="E8E6DC"/>
                </a:solidFill>
                <a:latin typeface="Calibri"/>
              </a:rPr>
              <a:t> </a:t>
            </a:r>
            <a:r>
              <a:rPr b="0" i="1" dirty="0" err="1">
                <a:solidFill>
                  <a:srgbClr val="E8E6DC"/>
                </a:solidFill>
                <a:latin typeface="Calibri"/>
              </a:rPr>
              <a:t>tìm</a:t>
            </a:r>
            <a:r>
              <a:rPr b="0" i="1" dirty="0">
                <a:solidFill>
                  <a:srgbClr val="E8E6DC"/>
                </a:solidFill>
                <a:latin typeface="Calibri"/>
              </a:rPr>
              <a:t> </a:t>
            </a:r>
            <a:r>
              <a:rPr b="0" i="1" dirty="0" err="1">
                <a:solidFill>
                  <a:srgbClr val="E8E6DC"/>
                </a:solidFill>
                <a:latin typeface="Calibri"/>
              </a:rPr>
              <a:t>kiếm</a:t>
            </a:r>
            <a:r>
              <a:rPr b="0" i="1" dirty="0">
                <a:solidFill>
                  <a:srgbClr val="E8E6DC"/>
                </a:solidFill>
                <a:latin typeface="Calibri"/>
              </a:rPr>
              <a:t> lai, Graph RAG </a:t>
            </a:r>
            <a:r>
              <a:rPr b="0" i="1" dirty="0" err="1">
                <a:solidFill>
                  <a:srgbClr val="E8E6DC"/>
                </a:solidFill>
                <a:latin typeface="Calibri"/>
              </a:rPr>
              <a:t>và</a:t>
            </a:r>
            <a:r>
              <a:rPr b="0" i="1" dirty="0">
                <a:solidFill>
                  <a:srgbClr val="E8E6DC"/>
                </a:solidFill>
                <a:latin typeface="Calibri"/>
              </a:rPr>
              <a:t> chatbot </a:t>
            </a:r>
            <a:r>
              <a:rPr b="0" i="1" dirty="0" err="1">
                <a:solidFill>
                  <a:srgbClr val="E8E6DC"/>
                </a:solidFill>
                <a:latin typeface="Calibri"/>
              </a:rPr>
              <a:t>hỏi</a:t>
            </a:r>
            <a:r>
              <a:rPr b="0" i="1" dirty="0">
                <a:solidFill>
                  <a:srgbClr val="E8E6DC"/>
                </a:solidFill>
                <a:latin typeface="Calibri"/>
              </a:rPr>
              <a:t> </a:t>
            </a:r>
            <a:r>
              <a:rPr b="0" i="1" dirty="0" err="1">
                <a:solidFill>
                  <a:srgbClr val="E8E6DC"/>
                </a:solidFill>
                <a:latin typeface="Calibri"/>
              </a:rPr>
              <a:t>đáp</a:t>
            </a:r>
            <a:endParaRPr lang="en-US" b="0" i="1">
              <a:solidFill>
                <a:srgbClr val="E8E6DC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5" name="Connector 4"/>
          <p:cNvCxnSpPr/>
          <p:nvPr/>
        </p:nvCxnSpPr>
        <p:spPr>
          <a:xfrm flipV="1">
            <a:off x="7863840" y="1751076"/>
            <a:ext cx="1248156" cy="864108"/>
          </a:xfrm>
          <a:prstGeom prst="line">
            <a:avLst/>
          </a:prstGeom>
          <a:ln w="19050">
            <a:solidFill>
              <a:srgbClr val="5A5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863840" y="2615184"/>
            <a:ext cx="1536192" cy="672084"/>
          </a:xfrm>
          <a:prstGeom prst="line">
            <a:avLst/>
          </a:prstGeom>
          <a:ln w="19050">
            <a:solidFill>
              <a:srgbClr val="5A5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11996" y="1751076"/>
            <a:ext cx="1536192" cy="672084"/>
          </a:xfrm>
          <a:prstGeom prst="line">
            <a:avLst/>
          </a:prstGeom>
          <a:ln w="19050">
            <a:solidFill>
              <a:srgbClr val="5A5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400032" y="2423160"/>
            <a:ext cx="1248156" cy="864108"/>
          </a:xfrm>
          <a:prstGeom prst="line">
            <a:avLst/>
          </a:prstGeom>
          <a:ln w="19050">
            <a:solidFill>
              <a:srgbClr val="5A5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400032" y="3287268"/>
            <a:ext cx="1440180" cy="672084"/>
          </a:xfrm>
          <a:prstGeom prst="line">
            <a:avLst/>
          </a:prstGeom>
          <a:ln w="19050">
            <a:solidFill>
              <a:srgbClr val="5A5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727948" y="3287268"/>
            <a:ext cx="672084" cy="1056132"/>
          </a:xfrm>
          <a:prstGeom prst="line">
            <a:avLst/>
          </a:prstGeom>
          <a:ln w="19050">
            <a:solidFill>
              <a:srgbClr val="5A5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27948" y="4343400"/>
            <a:ext cx="1248156" cy="576072"/>
          </a:xfrm>
          <a:prstGeom prst="line">
            <a:avLst/>
          </a:prstGeom>
          <a:ln w="19050">
            <a:solidFill>
              <a:srgbClr val="5A5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976104" y="3959352"/>
            <a:ext cx="864108" cy="960120"/>
          </a:xfrm>
          <a:prstGeom prst="line">
            <a:avLst/>
          </a:prstGeom>
          <a:ln w="19050">
            <a:solidFill>
              <a:srgbClr val="5A5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648188" y="2423160"/>
            <a:ext cx="960120" cy="960120"/>
          </a:xfrm>
          <a:prstGeom prst="line">
            <a:avLst/>
          </a:prstGeom>
          <a:ln w="19050">
            <a:solidFill>
              <a:srgbClr val="5A5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840212" y="3383280"/>
            <a:ext cx="768096" cy="576072"/>
          </a:xfrm>
          <a:prstGeom prst="line">
            <a:avLst/>
          </a:prstGeom>
          <a:ln w="19050">
            <a:solidFill>
              <a:srgbClr val="5A5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111996" y="1751076"/>
            <a:ext cx="288036" cy="1536192"/>
          </a:xfrm>
          <a:prstGeom prst="line">
            <a:avLst/>
          </a:prstGeom>
          <a:ln w="19050">
            <a:solidFill>
              <a:srgbClr val="5A5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739025" y="2490369"/>
            <a:ext cx="249631" cy="249631"/>
          </a:xfrm>
          <a:prstGeom prst="ellipse">
            <a:avLst/>
          </a:prstGeom>
          <a:solidFill>
            <a:srgbClr val="E9C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987181" y="1626261"/>
            <a:ext cx="249631" cy="249631"/>
          </a:xfrm>
          <a:prstGeom prst="ellipse">
            <a:avLst/>
          </a:prstGeom>
          <a:solidFill>
            <a:srgbClr val="5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98407" y="3085643"/>
            <a:ext cx="403250" cy="40325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523373" y="2298345"/>
            <a:ext cx="249631" cy="249631"/>
          </a:xfrm>
          <a:prstGeom prst="ellipse">
            <a:avLst/>
          </a:prstGeom>
          <a:solidFill>
            <a:srgbClr val="E9C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715397" y="3834537"/>
            <a:ext cx="249631" cy="249631"/>
          </a:xfrm>
          <a:prstGeom prst="ellipse">
            <a:avLst/>
          </a:prstGeom>
          <a:solidFill>
            <a:srgbClr val="E9C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603133" y="4218585"/>
            <a:ext cx="249631" cy="249631"/>
          </a:xfrm>
          <a:prstGeom prst="ellipse">
            <a:avLst/>
          </a:prstGeom>
          <a:solidFill>
            <a:srgbClr val="5E8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851289" y="4794657"/>
            <a:ext cx="249631" cy="249631"/>
          </a:xfrm>
          <a:prstGeom prst="ellipse">
            <a:avLst/>
          </a:prstGeom>
          <a:solidFill>
            <a:srgbClr val="5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483493" y="3258465"/>
            <a:ext cx="249631" cy="249631"/>
          </a:xfrm>
          <a:prstGeom prst="ellipse">
            <a:avLst/>
          </a:prstGeom>
          <a:solidFill>
            <a:srgbClr val="5E8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Logo plate"/>
          <p:cNvSpPr/>
          <p:nvPr/>
        </p:nvSpPr>
        <p:spPr>
          <a:xfrm>
            <a:off x="454741" y="329289"/>
            <a:ext cx="1588721" cy="114514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2D8E4D3-0F83-8A66-C8B2-43729A46A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81" y="420729"/>
            <a:ext cx="1405841" cy="96226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19DF3B8-570C-3807-56B3-716A6807F983}"/>
              </a:ext>
            </a:extLst>
          </p:cNvPr>
          <p:cNvSpPr txBox="1"/>
          <p:nvPr/>
        </p:nvSpPr>
        <p:spPr>
          <a:xfrm>
            <a:off x="548639" y="1525349"/>
            <a:ext cx="67665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200" dirty="0">
                <a:solidFill>
                  <a:srgbClr val="E8E6DC"/>
                </a:solidFill>
                <a:latin typeface="Calibri"/>
              </a:rPr>
              <a:t>Khai </a:t>
            </a:r>
            <a:r>
              <a:rPr lang="en-US" sz="2200" dirty="0" err="1">
                <a:solidFill>
                  <a:srgbClr val="E8E6DC"/>
                </a:solidFill>
                <a:latin typeface="Calibri"/>
              </a:rPr>
              <a:t>phá</a:t>
            </a:r>
            <a:r>
              <a:rPr lang="en-US" sz="2200" dirty="0">
                <a:solidFill>
                  <a:srgbClr val="E8E6DC"/>
                </a:solidFill>
                <a:latin typeface="Calibri"/>
              </a:rPr>
              <a:t> </a:t>
            </a:r>
            <a:r>
              <a:rPr lang="en-US" sz="2200" dirty="0" err="1">
                <a:solidFill>
                  <a:srgbClr val="E8E6DC"/>
                </a:solidFill>
                <a:latin typeface="Calibri"/>
              </a:rPr>
              <a:t>dữ</a:t>
            </a:r>
            <a:r>
              <a:rPr lang="en-US" sz="2200" dirty="0">
                <a:solidFill>
                  <a:srgbClr val="E8E6DC"/>
                </a:solidFill>
                <a:latin typeface="Calibri"/>
              </a:rPr>
              <a:t> </a:t>
            </a:r>
            <a:r>
              <a:rPr lang="en-US" sz="2200" dirty="0" err="1">
                <a:solidFill>
                  <a:srgbClr val="E8E6DC"/>
                </a:solidFill>
                <a:latin typeface="Calibri"/>
              </a:rPr>
              <a:t>liệu</a:t>
            </a:r>
            <a:r>
              <a:rPr lang="en-US" sz="2200" dirty="0">
                <a:solidFill>
                  <a:srgbClr val="E8E6DC"/>
                </a:solidFill>
                <a:latin typeface="Calibri"/>
              </a:rPr>
              <a:t> </a:t>
            </a:r>
            <a:r>
              <a:rPr lang="en-US" sz="2200" dirty="0" err="1">
                <a:solidFill>
                  <a:srgbClr val="E8E6DC"/>
                </a:solidFill>
                <a:latin typeface="Calibri"/>
              </a:rPr>
              <a:t>lớn</a:t>
            </a:r>
            <a:r>
              <a:rPr lang="en-US" sz="2200" dirty="0">
                <a:solidFill>
                  <a:srgbClr val="E8E6DC"/>
                </a:solidFill>
                <a:latin typeface="Calibri"/>
              </a:rPr>
              <a:t> </a:t>
            </a:r>
            <a:r>
              <a:rPr lang="en-US" sz="2200" dirty="0" err="1">
                <a:solidFill>
                  <a:srgbClr val="E8E6DC"/>
                </a:solidFill>
                <a:latin typeface="Calibri"/>
              </a:rPr>
              <a:t>và</a:t>
            </a:r>
            <a:r>
              <a:rPr lang="en-US" sz="2200" dirty="0">
                <a:solidFill>
                  <a:srgbClr val="E8E6DC"/>
                </a:solidFill>
                <a:latin typeface="Calibri"/>
              </a:rPr>
              <a:t> </a:t>
            </a:r>
            <a:r>
              <a:rPr lang="en-US" sz="2200" dirty="0" err="1">
                <a:solidFill>
                  <a:srgbClr val="E8E6DC"/>
                </a:solidFill>
                <a:latin typeface="Calibri"/>
              </a:rPr>
              <a:t>học</a:t>
            </a:r>
            <a:r>
              <a:rPr lang="en-US" sz="2200" dirty="0">
                <a:solidFill>
                  <a:srgbClr val="E8E6DC"/>
                </a:solidFill>
                <a:latin typeface="Calibri"/>
              </a:rPr>
              <a:t> </a:t>
            </a:r>
            <a:r>
              <a:rPr lang="en-US" sz="2200" dirty="0" err="1">
                <a:solidFill>
                  <a:srgbClr val="E8E6DC"/>
                </a:solidFill>
                <a:latin typeface="Calibri"/>
              </a:rPr>
              <a:t>máy</a:t>
            </a:r>
            <a:endParaRPr lang="en-US" dirty="0" err="1"/>
          </a:p>
        </p:txBody>
      </p:sp>
      <p:sp>
        <p:nvSpPr>
          <p:cNvPr id="26" name="Team label"/>
          <p:cNvSpPr txBox="1"/>
          <p:nvPr/>
        </p:nvSpPr>
        <p:spPr>
          <a:xfrm>
            <a:off x="548640" y="4352544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96442"/>
                </a:solidFill>
                <a:latin typeface="Calibri"/>
              </a:rPr>
              <a:t>NHÓM 2</a:t>
            </a:r>
          </a:p>
        </p:txBody>
      </p:sp>
      <p:sp>
        <p:nvSpPr>
          <p:cNvPr id="27" name="Member card 1"/>
          <p:cNvSpPr/>
          <p:nvPr/>
        </p:nvSpPr>
        <p:spPr>
          <a:xfrm>
            <a:off x="548640" y="4709160"/>
            <a:ext cx="3246120" cy="749808"/>
          </a:xfrm>
          <a:prstGeom prst="roundRect">
            <a:avLst>
              <a:gd name="adj" fmla="val 18000"/>
            </a:avLst>
          </a:prstGeom>
          <a:solidFill>
            <a:srgbClr val="33322E"/>
          </a:solidFill>
          <a:ln w="25400">
            <a:solidFill>
              <a:srgbClr val="C96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04088" y="4855464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29" name="Member name 1"/>
          <p:cNvSpPr txBox="1"/>
          <p:nvPr/>
        </p:nvSpPr>
        <p:spPr>
          <a:xfrm>
            <a:off x="1298448" y="4800600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C96442"/>
                </a:solidFill>
                <a:latin typeface="Calibri"/>
              </a:rPr>
              <a:t>Dương Khánh Linh</a:t>
            </a:r>
          </a:p>
        </p:txBody>
      </p:sp>
      <p:sp>
        <p:nvSpPr>
          <p:cNvPr id="30" name="Member id 1"/>
          <p:cNvSpPr txBox="1"/>
          <p:nvPr/>
        </p:nvSpPr>
        <p:spPr>
          <a:xfrm>
            <a:off x="1298448" y="5129784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09C90"/>
                </a:solidFill>
                <a:latin typeface="Calibri"/>
              </a:rPr>
              <a:t>MSSV 25800037</a:t>
            </a:r>
          </a:p>
        </p:txBody>
      </p:sp>
      <p:sp>
        <p:nvSpPr>
          <p:cNvPr id="31" name="Member card 2"/>
          <p:cNvSpPr/>
          <p:nvPr/>
        </p:nvSpPr>
        <p:spPr>
          <a:xfrm>
            <a:off x="4069080" y="4709160"/>
            <a:ext cx="3246120" cy="749808"/>
          </a:xfrm>
          <a:prstGeom prst="roundRect">
            <a:avLst>
              <a:gd name="adj" fmla="val 18000"/>
            </a:avLst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224528" y="4855464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33" name="Member name 2"/>
          <p:cNvSpPr txBox="1"/>
          <p:nvPr/>
        </p:nvSpPr>
        <p:spPr>
          <a:xfrm>
            <a:off x="4818888" y="4800600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8E6DC"/>
                </a:solidFill>
                <a:latin typeface="Calibri"/>
              </a:rPr>
              <a:t>Cao Đức Soạn</a:t>
            </a:r>
          </a:p>
        </p:txBody>
      </p:sp>
      <p:sp>
        <p:nvSpPr>
          <p:cNvPr id="34" name="Member id 2"/>
          <p:cNvSpPr txBox="1"/>
          <p:nvPr/>
        </p:nvSpPr>
        <p:spPr>
          <a:xfrm>
            <a:off x="4818888" y="5129784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09C90"/>
                </a:solidFill>
                <a:latin typeface="Calibri"/>
              </a:rPr>
              <a:t>MSSV 25800041</a:t>
            </a:r>
          </a:p>
        </p:txBody>
      </p:sp>
      <p:sp>
        <p:nvSpPr>
          <p:cNvPr id="35" name="Member card 3"/>
          <p:cNvSpPr/>
          <p:nvPr/>
        </p:nvSpPr>
        <p:spPr>
          <a:xfrm>
            <a:off x="548640" y="5660136"/>
            <a:ext cx="3246120" cy="749808"/>
          </a:xfrm>
          <a:prstGeom prst="roundRect">
            <a:avLst>
              <a:gd name="adj" fmla="val 18000"/>
            </a:avLst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4088" y="5806440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37" name="Member name 3"/>
          <p:cNvSpPr txBox="1"/>
          <p:nvPr/>
        </p:nvSpPr>
        <p:spPr>
          <a:xfrm>
            <a:off x="1298448" y="5751576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8E6DC"/>
                </a:solidFill>
                <a:latin typeface="Calibri"/>
              </a:rPr>
              <a:t>Triệu Minh Quang</a:t>
            </a:r>
          </a:p>
        </p:txBody>
      </p:sp>
      <p:sp>
        <p:nvSpPr>
          <p:cNvPr id="38" name="Member id 3"/>
          <p:cNvSpPr txBox="1"/>
          <p:nvPr/>
        </p:nvSpPr>
        <p:spPr>
          <a:xfrm>
            <a:off x="1298448" y="608076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09C90"/>
                </a:solidFill>
                <a:latin typeface="Calibri"/>
              </a:rPr>
              <a:t>MSSV 25800042</a:t>
            </a:r>
          </a:p>
        </p:txBody>
      </p:sp>
      <p:sp>
        <p:nvSpPr>
          <p:cNvPr id="39" name="Member card 4"/>
          <p:cNvSpPr/>
          <p:nvPr/>
        </p:nvSpPr>
        <p:spPr>
          <a:xfrm>
            <a:off x="4069080" y="5660136"/>
            <a:ext cx="3246120" cy="749808"/>
          </a:xfrm>
          <a:prstGeom prst="roundRect">
            <a:avLst>
              <a:gd name="adj" fmla="val 18000"/>
            </a:avLst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224528" y="5806440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1" name="Member name 4"/>
          <p:cNvSpPr txBox="1"/>
          <p:nvPr/>
        </p:nvSpPr>
        <p:spPr>
          <a:xfrm>
            <a:off x="4818888" y="5751576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8E6DC"/>
                </a:solidFill>
                <a:latin typeface="Calibri"/>
              </a:rPr>
              <a:t>Nguyễn Thành Dương</a:t>
            </a:r>
          </a:p>
        </p:txBody>
      </p:sp>
      <p:sp>
        <p:nvSpPr>
          <p:cNvPr id="42" name="Member id 4"/>
          <p:cNvSpPr txBox="1"/>
          <p:nvPr/>
        </p:nvSpPr>
        <p:spPr>
          <a:xfrm>
            <a:off x="4818888" y="608076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09C90"/>
                </a:solidFill>
                <a:latin typeface="Calibri"/>
              </a:rPr>
              <a:t>MSSV 25800030</a:t>
            </a:r>
          </a:p>
        </p:txBody>
      </p:sp>
      <p:sp>
        <p:nvSpPr>
          <p:cNvPr id="44" name="Leader tag"/>
          <p:cNvSpPr/>
          <p:nvPr/>
        </p:nvSpPr>
        <p:spPr>
          <a:xfrm>
            <a:off x="2505456" y="5138928"/>
            <a:ext cx="1024128" cy="237744"/>
          </a:xfrm>
          <a:prstGeom prst="roundRect">
            <a:avLst>
              <a:gd name="adj" fmla="val 50000"/>
            </a:avLst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NHÓM TRƯỞNG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2F2C24"/>
                </a:solidFill>
                <a:latin typeface="Cambria"/>
              </a:rPr>
              <a:t>Nội dung trình bày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E695C"/>
                </a:solidFill>
                <a:latin typeface="Calibri"/>
              </a:rPr>
              <a:t>ScholarLens · Graph RAG cho bài báo arXiv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E695C"/>
                </a:solidFill>
                <a:latin typeface="Calibri"/>
              </a:rPr>
              <a:t>2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1435608"/>
            <a:ext cx="512064" cy="512064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1399032"/>
            <a:ext cx="4526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F2C24"/>
                </a:solidFill>
                <a:latin typeface="Cambria"/>
              </a:rPr>
              <a:t>Giới thiệu hệ thống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1755648"/>
            <a:ext cx="4526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ScholarLens là gì, chạy ở đâu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2368296"/>
            <a:ext cx="512064" cy="512064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2331720"/>
            <a:ext cx="4526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F2C24"/>
                </a:solidFill>
                <a:latin typeface="Cambria"/>
              </a:rPr>
              <a:t>Phát biểu bài toán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1872" y="2688336"/>
            <a:ext cx="4526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Vấn đề và các tình huống sử dụng</a:t>
            </a:r>
          </a:p>
        </p:txBody>
      </p:sp>
      <p:sp>
        <p:nvSpPr>
          <p:cNvPr id="32" name="Oval 31"/>
          <p:cNvSpPr/>
          <p:nvPr/>
        </p:nvSpPr>
        <p:spPr>
          <a:xfrm>
            <a:off x="548640" y="3300984"/>
            <a:ext cx="512064" cy="512064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1872" y="3264408"/>
            <a:ext cx="4526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F2C24"/>
                </a:solidFill>
                <a:latin typeface="Cambria"/>
              </a:rPr>
              <a:t>Yêu cầu hệ thống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1872" y="3621024"/>
            <a:ext cx="4526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Chức năng và chất lượng vận hành</a:t>
            </a:r>
          </a:p>
        </p:txBody>
      </p:sp>
      <p:sp>
        <p:nvSpPr>
          <p:cNvPr id="35" name="Oval 34"/>
          <p:cNvSpPr/>
          <p:nvPr/>
        </p:nvSpPr>
        <p:spPr>
          <a:xfrm>
            <a:off x="548640" y="4233672"/>
            <a:ext cx="512064" cy="512064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61872" y="4197096"/>
            <a:ext cx="4526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F2C24"/>
                </a:solidFill>
                <a:latin typeface="Cambria"/>
              </a:rPr>
              <a:t>Nguồn dữ liệu và thu thập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61872" y="4553712"/>
            <a:ext cx="4526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Lấy bài báo từ đâu, bằng cách nào</a:t>
            </a:r>
          </a:p>
        </p:txBody>
      </p:sp>
      <p:sp>
        <p:nvSpPr>
          <p:cNvPr id="38" name="Oval 37"/>
          <p:cNvSpPr/>
          <p:nvPr/>
        </p:nvSpPr>
        <p:spPr>
          <a:xfrm>
            <a:off x="548640" y="5166360"/>
            <a:ext cx="512064" cy="512064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1872" y="5129784"/>
            <a:ext cx="4526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F2C24"/>
                </a:solidFill>
                <a:latin typeface="Cambria"/>
              </a:rPr>
              <a:t>Tổ chức dữ liệu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1872" y="5486400"/>
            <a:ext cx="4526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Các kho dữ liệu và mục đích của từng kho</a:t>
            </a:r>
          </a:p>
        </p:txBody>
      </p:sp>
      <p:sp>
        <p:nvSpPr>
          <p:cNvPr id="41" name="Oval 40"/>
          <p:cNvSpPr/>
          <p:nvPr/>
        </p:nvSpPr>
        <p:spPr>
          <a:xfrm>
            <a:off x="6309360" y="1435608"/>
            <a:ext cx="512064" cy="512064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2592" y="1399032"/>
            <a:ext cx="4526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F2C24"/>
                </a:solidFill>
                <a:latin typeface="Cambria"/>
              </a:rPr>
              <a:t>Hệ thống tìm kiếm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22592" y="1755648"/>
            <a:ext cx="4526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Kết hợp khớp từ khoá và khớp ý nghĩa</a:t>
            </a:r>
          </a:p>
        </p:txBody>
      </p:sp>
      <p:sp>
        <p:nvSpPr>
          <p:cNvPr id="44" name="Oval 43"/>
          <p:cNvSpPr/>
          <p:nvPr/>
        </p:nvSpPr>
        <p:spPr>
          <a:xfrm>
            <a:off x="6309360" y="2368296"/>
            <a:ext cx="512064" cy="512064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22592" y="2331720"/>
            <a:ext cx="4526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F2C24"/>
                </a:solidFill>
                <a:latin typeface="Cambria"/>
              </a:rPr>
              <a:t>Chatbot hỏi đáp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22592" y="2688336"/>
            <a:ext cx="4526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Trả lời có dẫn nguồn, gợi ý bài liên quan</a:t>
            </a:r>
          </a:p>
        </p:txBody>
      </p:sp>
      <p:sp>
        <p:nvSpPr>
          <p:cNvPr id="47" name="Oval 46"/>
          <p:cNvSpPr/>
          <p:nvPr/>
        </p:nvSpPr>
        <p:spPr>
          <a:xfrm>
            <a:off x="6309360" y="3300984"/>
            <a:ext cx="512064" cy="512064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22592" y="3264408"/>
            <a:ext cx="4526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F2C24"/>
                </a:solidFill>
                <a:latin typeface="Cambria"/>
              </a:rPr>
              <a:t>Báo cáo kỹ thuật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22592" y="3621024"/>
            <a:ext cx="4526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Kết quả đánh giá</a:t>
            </a:r>
          </a:p>
        </p:txBody>
      </p:sp>
      <p:sp>
        <p:nvSpPr>
          <p:cNvPr id="50" name="Oval 49"/>
          <p:cNvSpPr/>
          <p:nvPr/>
        </p:nvSpPr>
        <p:spPr>
          <a:xfrm>
            <a:off x="6309360" y="4233672"/>
            <a:ext cx="512064" cy="512064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22592" y="4197096"/>
            <a:ext cx="4526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F2C24"/>
                </a:solidFill>
                <a:latin typeface="Cambria"/>
              </a:rPr>
              <a:t>Trình bày giải pháp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22592" y="4553712"/>
            <a:ext cx="4526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Giao diện, demo và kết luận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2F2C24"/>
                </a:solidFill>
                <a:latin typeface="Cambria"/>
              </a:rPr>
              <a:t>1. Giới thiệu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2F2C24"/>
                </a:solidFill>
                <a:latin typeface="Cambria"/>
              </a:rPr>
              <a:t>ScholarLens là trợ lý </a:t>
            </a:r>
            <a:r>
              <a:rPr sz="2400" b="1" i="0">
                <a:solidFill>
                  <a:srgbClr val="C96442"/>
                </a:solidFill>
                <a:latin typeface="Cambria"/>
              </a:rPr>
              <a:t>tìm kiếm và hỏi đáp</a:t>
            </a:r>
            <a:r>
              <a:rPr sz="2400" b="0" i="0">
                <a:solidFill>
                  <a:srgbClr val="2F2C24"/>
                </a:solidFill>
                <a:latin typeface="Cambria"/>
              </a:rPr>
              <a:t> tài liệu khoa học.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816352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0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F2C24"/>
                </a:solidFill>
                <a:latin typeface="Calibri"/>
              </a:rPr>
              <a:t>Tìm đúng bài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1089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95C"/>
                </a:solidFill>
                <a:latin typeface="Calibri"/>
              </a:rPr>
              <a:t>Hỏi bằng tiếng Việt, hệ thống tìm trong kho bài báo arXiv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776472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703320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F2C24"/>
                </a:solidFill>
                <a:latin typeface="Calibri"/>
              </a:rPr>
              <a:t>Trả lời có nguồn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0690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95C"/>
                </a:solidFill>
                <a:latin typeface="Calibri"/>
              </a:rPr>
              <a:t>Mỗi ý trong câu trả lời ghi rõ lấy từ bài nào, đoạn nào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736592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63440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F2C24"/>
                </a:solidFill>
                <a:latin typeface="Calibri"/>
              </a:rPr>
              <a:t>Gợi ý bài liên quan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0292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E695C"/>
                </a:solidFill>
                <a:latin typeface="Calibri"/>
              </a:rPr>
              <a:t>Bài cùng tác giả, cùng chủ đề hoặc trích dẫn nhau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2286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325880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2F2C24"/>
                </a:solidFill>
                <a:latin typeface="Calibri"/>
              </a:rPr>
              <a:t>Người dùng · trình duyệt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03436" y="1920240"/>
            <a:ext cx="0" cy="365760"/>
          </a:xfrm>
          <a:prstGeom prst="line">
            <a:avLst/>
          </a:prstGeom>
          <a:ln w="19050">
            <a:solidFill>
              <a:srgbClr val="6E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766560" y="2331720"/>
            <a:ext cx="4873752" cy="1371600"/>
          </a:xfrm>
          <a:prstGeom prst="roundRect">
            <a:avLst>
              <a:gd name="adj" fmla="val 8000"/>
            </a:avLst>
          </a:prstGeom>
          <a:solidFill>
            <a:srgbClr val="F6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441448"/>
            <a:ext cx="4325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C96442"/>
                </a:solidFill>
                <a:latin typeface="Calibri"/>
              </a:rPr>
              <a:t>Máy tính của nhóm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834640"/>
            <a:ext cx="4325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F2C24"/>
                </a:solidFill>
                <a:latin typeface="Calibri"/>
              </a:rPr>
              <a:t>Ứng dụng web, kho bài báo, tìm kiếm và đồ thị bài liên quan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03436" y="3749039"/>
            <a:ext cx="0" cy="457201"/>
          </a:xfrm>
          <a:prstGeom prst="line">
            <a:avLst/>
          </a:prstGeom>
          <a:ln w="19050">
            <a:solidFill>
              <a:srgbClr val="6E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340596" y="381304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95C"/>
                </a:solidFill>
                <a:latin typeface="Calibri"/>
              </a:rPr>
              <a:t>kết nối bảo mật qua Internet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4251960"/>
            <a:ext cx="4873752" cy="1371600"/>
          </a:xfrm>
          <a:prstGeom prst="roundRect">
            <a:avLst>
              <a:gd name="adj" fmla="val 8000"/>
            </a:avLst>
          </a:prstGeom>
          <a:solidFill>
            <a:srgbClr val="262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4361688"/>
            <a:ext cx="4325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Máy chủ GPU (Kaggle)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54880"/>
            <a:ext cx="4325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9C5B8"/>
                </a:solidFill>
                <a:latin typeface="Calibri"/>
              </a:rPr>
              <a:t>Mô hình AI Qwen2.5 đọc các đoạn tìm được và viết câu trả lời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95C"/>
                </a:solidFill>
                <a:latin typeface="Calibri"/>
              </a:rPr>
              <a:t>ScholarLens · Graph RAG cho bài báo arXiv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E695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2F2C24"/>
                </a:solidFill>
                <a:latin typeface="Cambria"/>
              </a:rPr>
              <a:t>2. Phát biểu bài toán: tìm đúng bài, hỏi đúng chỗ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3749039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C96442"/>
                </a:solidFill>
                <a:latin typeface="Cambria"/>
              </a:rPr>
              <a:t>Hơn 20.000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6E695C"/>
                </a:solidFill>
                <a:latin typeface="Calibri"/>
              </a:rPr>
              <a:t>bài mới trên arXiv mỗi tháng</a:t>
            </a:r>
          </a:p>
          <a:p>
            <a:pPr algn="l">
              <a:spcBef>
                <a:spcPts val="1800"/>
              </a:spcBef>
            </a:pPr>
            <a:r>
              <a:rPr sz="1600" b="0" i="0">
                <a:solidFill>
                  <a:srgbClr val="2F2C24"/>
                </a:solidFill>
                <a:latin typeface="Calibri"/>
              </a:rPr>
              <a:t>Tìm theo từ khoá bỏ sót cách diễn đạt khác; LLM thuần dễ bịa nguồn. Cần truy xuất ngữ nghĩa + quan hệ giữa các bài + câu trả lời có trích dẫn.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32588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864608" y="1527048"/>
            <a:ext cx="384048" cy="384048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67528" y="1563624"/>
            <a:ext cx="24780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F2C24"/>
                </a:solidFill>
                <a:latin typeface="Cambria"/>
              </a:rPr>
              <a:t>Tìm bằng câu hỏi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4608" y="2075688"/>
            <a:ext cx="298094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Kết quả xếp hạng, có tác giả, năm, link arXiv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32588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76488" y="1527048"/>
            <a:ext cx="384048" cy="384048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9408" y="1563624"/>
            <a:ext cx="24780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F2C24"/>
                </a:solidFill>
                <a:latin typeface="Cambria"/>
              </a:rPr>
              <a:t>Thêm 1 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6488" y="2075688"/>
            <a:ext cx="298094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Tự kiểm tra trùng, tự embedding và cập nhật đồ thị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898648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864608" y="3099816"/>
            <a:ext cx="384048" cy="384048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3136392"/>
            <a:ext cx="24780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F2C24"/>
                </a:solidFill>
                <a:latin typeface="Cambria"/>
              </a:rPr>
              <a:t>Thêm hàng loạt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3648456"/>
            <a:ext cx="298094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Trạng thái riêng từng file: mới / trùng / lỗi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898648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76488" y="3099816"/>
            <a:ext cx="384048" cy="384048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8" y="3136392"/>
            <a:ext cx="24780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F2C24"/>
                </a:solidFill>
                <a:latin typeface="Cambria"/>
              </a:rPr>
              <a:t>Hỏi về một bài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3648456"/>
            <a:ext cx="298094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Trả lời từ chính bài đó, trích dẫn [n]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4471416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864608" y="4672584"/>
            <a:ext cx="384048" cy="384048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7528" y="4709160"/>
            <a:ext cx="24780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F2C24"/>
                </a:solidFill>
                <a:latin typeface="Cambria"/>
              </a:rPr>
              <a:t>Hỏi bài liên quan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5221224"/>
            <a:ext cx="298094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Láng giềng trên đồ thị kèm lý do liên quan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4471416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476488" y="4672584"/>
            <a:ext cx="384048" cy="384048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4709160"/>
            <a:ext cx="24780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F2C24"/>
                </a:solidFill>
                <a:latin typeface="Cambria"/>
              </a:rPr>
              <a:t>Trò chuyện chung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5221224"/>
            <a:ext cx="298094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Chế độ Chat, không cần truy xuất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E695C"/>
                </a:solidFill>
                <a:latin typeface="Calibri"/>
              </a:rPr>
              <a:t>ScholarLens · Graph RAG cho bài báo arXiv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E695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2F2C24"/>
                </a:solidFill>
                <a:latin typeface="Cambria"/>
              </a:rPr>
              <a:t>3. Yêu cầu hệ thống: hệ thống làm được gì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E695C"/>
                </a:solidFill>
                <a:latin typeface="Calibri"/>
              </a:rPr>
              <a:t>ScholarLens · Graph RAG cho bài báo arXiv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E695C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2801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96442"/>
                </a:solidFill>
                <a:latin typeface="Cambria"/>
              </a:rPr>
              <a:t>Chức năng chính</a:t>
            </a:r>
          </a:p>
        </p:txBody>
      </p:sp>
      <p:sp>
        <p:nvSpPr>
          <p:cNvPr id="27" name="Func card 1"/>
          <p:cNvSpPr/>
          <p:nvPr/>
        </p:nvSpPr>
        <p:spPr>
          <a:xfrm>
            <a:off x="548640" y="1828800"/>
            <a:ext cx="6583680" cy="73152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3232" y="1965960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9" name="Func title 1"/>
          <p:cNvSpPr txBox="1"/>
          <p:nvPr/>
        </p:nvSpPr>
        <p:spPr>
          <a:xfrm>
            <a:off x="1353312" y="1911096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libri"/>
              </a:rPr>
              <a:t>Tự thu thập bài báo</a:t>
            </a:r>
          </a:p>
        </p:txBody>
      </p:sp>
      <p:sp>
        <p:nvSpPr>
          <p:cNvPr id="30" name="Func desc 1"/>
          <p:cNvSpPr txBox="1"/>
          <p:nvPr/>
        </p:nvSpPr>
        <p:spPr>
          <a:xfrm>
            <a:off x="1353312" y="223113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Lấy bài mới từ kho arXiv theo chủ đề cần theo dõi</a:t>
            </a:r>
          </a:p>
        </p:txBody>
      </p:sp>
      <p:sp>
        <p:nvSpPr>
          <p:cNvPr id="31" name="Func card 2"/>
          <p:cNvSpPr/>
          <p:nvPr/>
        </p:nvSpPr>
        <p:spPr>
          <a:xfrm>
            <a:off x="548640" y="2697480"/>
            <a:ext cx="6583680" cy="73152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13232" y="2834640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Func title 2"/>
          <p:cNvSpPr txBox="1"/>
          <p:nvPr/>
        </p:nvSpPr>
        <p:spPr>
          <a:xfrm>
            <a:off x="1353312" y="2779776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libri"/>
              </a:rPr>
              <a:t>Thêm tài liệu dễ dàng</a:t>
            </a:r>
          </a:p>
        </p:txBody>
      </p:sp>
      <p:sp>
        <p:nvSpPr>
          <p:cNvPr id="34" name="Func desc 2"/>
          <p:cNvSpPr txBox="1"/>
          <p:nvPr/>
        </p:nvSpPr>
        <p:spPr>
          <a:xfrm>
            <a:off x="1353312" y="309981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Kéo-thả file PDF; tự nhận ra bài đã có, không lưu trùng</a:t>
            </a:r>
          </a:p>
        </p:txBody>
      </p:sp>
      <p:sp>
        <p:nvSpPr>
          <p:cNvPr id="35" name="Func card 3"/>
          <p:cNvSpPr/>
          <p:nvPr/>
        </p:nvSpPr>
        <p:spPr>
          <a:xfrm>
            <a:off x="548640" y="3566160"/>
            <a:ext cx="6583680" cy="73152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13232" y="3703320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7" name="Func title 3"/>
          <p:cNvSpPr txBox="1"/>
          <p:nvPr/>
        </p:nvSpPr>
        <p:spPr>
          <a:xfrm>
            <a:off x="1353312" y="3648456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libri"/>
              </a:rPr>
              <a:t>Tìm đúng bài cần đọc</a:t>
            </a:r>
          </a:p>
        </p:txBody>
      </p:sp>
      <p:sp>
        <p:nvSpPr>
          <p:cNvPr id="38" name="Func desc 3"/>
          <p:cNvSpPr txBox="1"/>
          <p:nvPr/>
        </p:nvSpPr>
        <p:spPr>
          <a:xfrm>
            <a:off x="1353312" y="396849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Hỏi bằng tiếng Việt như nói chuyện, ra bài phù hợp nhất</a:t>
            </a:r>
          </a:p>
        </p:txBody>
      </p:sp>
      <p:sp>
        <p:nvSpPr>
          <p:cNvPr id="39" name="Func card 4"/>
          <p:cNvSpPr/>
          <p:nvPr/>
        </p:nvSpPr>
        <p:spPr>
          <a:xfrm>
            <a:off x="548640" y="4434840"/>
            <a:ext cx="6583680" cy="73152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13232" y="4572000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1" name="Func title 4"/>
          <p:cNvSpPr txBox="1"/>
          <p:nvPr/>
        </p:nvSpPr>
        <p:spPr>
          <a:xfrm>
            <a:off x="1353312" y="4517136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libri"/>
              </a:rPr>
              <a:t>Hỏi đáp có dẫn nguồn</a:t>
            </a:r>
          </a:p>
        </p:txBody>
      </p:sp>
      <p:sp>
        <p:nvSpPr>
          <p:cNvPr id="42" name="Func desc 4"/>
          <p:cNvSpPr txBox="1"/>
          <p:nvPr/>
        </p:nvSpPr>
        <p:spPr>
          <a:xfrm>
            <a:off x="1353312" y="483717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Câu trả lời chỉ rõ lấy từ đoạn nào, của bài nào</a:t>
            </a:r>
          </a:p>
        </p:txBody>
      </p:sp>
      <p:sp>
        <p:nvSpPr>
          <p:cNvPr id="43" name="Func card 5"/>
          <p:cNvSpPr/>
          <p:nvPr/>
        </p:nvSpPr>
        <p:spPr>
          <a:xfrm>
            <a:off x="548640" y="5303520"/>
            <a:ext cx="6583680" cy="73152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13232" y="5440680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5" name="Func title 5"/>
          <p:cNvSpPr txBox="1"/>
          <p:nvPr/>
        </p:nvSpPr>
        <p:spPr>
          <a:xfrm>
            <a:off x="1353312" y="5385816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libri"/>
              </a:rPr>
              <a:t>Gợi ý bài liên quan</a:t>
            </a:r>
          </a:p>
        </p:txBody>
      </p:sp>
      <p:sp>
        <p:nvSpPr>
          <p:cNvPr id="46" name="Func desc 5"/>
          <p:cNvSpPr txBox="1"/>
          <p:nvPr/>
        </p:nvSpPr>
        <p:spPr>
          <a:xfrm>
            <a:off x="1353312" y="57058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Chỉ ra bài cùng tác giả, cùng chủ đề, hoặc trích dẫn nhau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3800" y="1280160"/>
            <a:ext cx="4096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96442"/>
                </a:solidFill>
                <a:latin typeface="Cambria"/>
              </a:rPr>
              <a:t>Chất lượng vận hành</a:t>
            </a:r>
          </a:p>
        </p:txBody>
      </p:sp>
      <p:sp>
        <p:nvSpPr>
          <p:cNvPr id="48" name="Perf tile 1"/>
          <p:cNvSpPr/>
          <p:nvPr/>
        </p:nvSpPr>
        <p:spPr>
          <a:xfrm>
            <a:off x="7543800" y="1828800"/>
            <a:ext cx="1933956" cy="1417320"/>
          </a:xfrm>
          <a:prstGeom prst="roundRect">
            <a:avLst>
              <a:gd name="adj" fmla="val 8000"/>
            </a:avLst>
          </a:prstGeom>
          <a:solidFill>
            <a:srgbClr val="F6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Perf value 1"/>
          <p:cNvSpPr txBox="1"/>
          <p:nvPr/>
        </p:nvSpPr>
        <p:spPr>
          <a:xfrm>
            <a:off x="7543800" y="1938528"/>
            <a:ext cx="193395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C96442"/>
                </a:solidFill>
                <a:latin typeface="Cambria"/>
              </a:rPr>
              <a:t>&lt; 1 giây</a:t>
            </a:r>
          </a:p>
        </p:txBody>
      </p:sp>
      <p:sp>
        <p:nvSpPr>
          <p:cNvPr id="50" name="Perf label 1"/>
          <p:cNvSpPr txBox="1"/>
          <p:nvPr/>
        </p:nvSpPr>
        <p:spPr>
          <a:xfrm>
            <a:off x="7680960" y="2670048"/>
            <a:ext cx="16596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2F2C24"/>
                </a:solidFill>
                <a:latin typeface="Calibri"/>
              </a:rPr>
              <a:t>để tìm ra bài liên quan</a:t>
            </a:r>
          </a:p>
        </p:txBody>
      </p:sp>
      <p:sp>
        <p:nvSpPr>
          <p:cNvPr id="51" name="Perf tile 2"/>
          <p:cNvSpPr/>
          <p:nvPr/>
        </p:nvSpPr>
        <p:spPr>
          <a:xfrm>
            <a:off x="9706356" y="1828800"/>
            <a:ext cx="1933956" cy="1417320"/>
          </a:xfrm>
          <a:prstGeom prst="roundRect">
            <a:avLst>
              <a:gd name="adj" fmla="val 8000"/>
            </a:avLst>
          </a:prstGeom>
          <a:solidFill>
            <a:srgbClr val="F6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Perf value 2"/>
          <p:cNvSpPr txBox="1"/>
          <p:nvPr/>
        </p:nvSpPr>
        <p:spPr>
          <a:xfrm>
            <a:off x="9706356" y="1938528"/>
            <a:ext cx="193395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C96442"/>
                </a:solidFill>
                <a:latin typeface="Cambria"/>
              </a:rPr>
              <a:t>≈ 30 giây</a:t>
            </a:r>
          </a:p>
        </p:txBody>
      </p:sp>
      <p:sp>
        <p:nvSpPr>
          <p:cNvPr id="53" name="Perf label 2"/>
          <p:cNvSpPr txBox="1"/>
          <p:nvPr/>
        </p:nvSpPr>
        <p:spPr>
          <a:xfrm>
            <a:off x="9843516" y="2670048"/>
            <a:ext cx="16596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2F2C24"/>
                </a:solidFill>
                <a:latin typeface="Calibri"/>
              </a:rPr>
              <a:t>để thêm một bài mới vào kho</a:t>
            </a:r>
          </a:p>
        </p:txBody>
      </p:sp>
      <p:sp>
        <p:nvSpPr>
          <p:cNvPr id="54" name="General card 1"/>
          <p:cNvSpPr/>
          <p:nvPr/>
        </p:nvSpPr>
        <p:spPr>
          <a:xfrm>
            <a:off x="7543800" y="3520440"/>
            <a:ext cx="4096512" cy="73152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eneral title 1"/>
          <p:cNvSpPr txBox="1"/>
          <p:nvPr/>
        </p:nvSpPr>
        <p:spPr>
          <a:xfrm>
            <a:off x="7744968" y="3602736"/>
            <a:ext cx="37307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libri"/>
              </a:rPr>
              <a:t>Dễ dùng</a:t>
            </a:r>
          </a:p>
        </p:txBody>
      </p:sp>
      <p:sp>
        <p:nvSpPr>
          <p:cNvPr id="56" name="General desc 1"/>
          <p:cNvSpPr txBox="1"/>
          <p:nvPr/>
        </p:nvSpPr>
        <p:spPr>
          <a:xfrm>
            <a:off x="7744968" y="3922776"/>
            <a:ext cx="3730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Giao diện chat quen thuộc, không cần đào tạo</a:t>
            </a:r>
          </a:p>
        </p:txBody>
      </p:sp>
      <p:sp>
        <p:nvSpPr>
          <p:cNvPr id="57" name="General card 2"/>
          <p:cNvSpPr/>
          <p:nvPr/>
        </p:nvSpPr>
        <p:spPr>
          <a:xfrm>
            <a:off x="7543800" y="4389120"/>
            <a:ext cx="4096512" cy="73152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eneral title 2"/>
          <p:cNvSpPr txBox="1"/>
          <p:nvPr/>
        </p:nvSpPr>
        <p:spPr>
          <a:xfrm>
            <a:off x="7744968" y="4471416"/>
            <a:ext cx="37307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libri"/>
              </a:rPr>
              <a:t>Đáng tin</a:t>
            </a:r>
          </a:p>
        </p:txBody>
      </p:sp>
      <p:sp>
        <p:nvSpPr>
          <p:cNvPr id="59" name="General desc 2"/>
          <p:cNvSpPr txBox="1"/>
          <p:nvPr/>
        </p:nvSpPr>
        <p:spPr>
          <a:xfrm>
            <a:off x="7744968" y="4791456"/>
            <a:ext cx="3730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Không có thông tin thì nói rõ, không tự bịa</a:t>
            </a:r>
          </a:p>
        </p:txBody>
      </p:sp>
      <p:sp>
        <p:nvSpPr>
          <p:cNvPr id="60" name="General card 3"/>
          <p:cNvSpPr/>
          <p:nvPr/>
        </p:nvSpPr>
        <p:spPr>
          <a:xfrm>
            <a:off x="7543800" y="5257800"/>
            <a:ext cx="4096512" cy="73152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eneral title 3"/>
          <p:cNvSpPr txBox="1"/>
          <p:nvPr/>
        </p:nvSpPr>
        <p:spPr>
          <a:xfrm>
            <a:off x="7744968" y="5340096"/>
            <a:ext cx="37307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libri"/>
              </a:rPr>
              <a:t>Ổn định</a:t>
            </a:r>
          </a:p>
        </p:txBody>
      </p:sp>
      <p:sp>
        <p:nvSpPr>
          <p:cNvPr id="62" name="General desc 3"/>
          <p:cNvSpPr txBox="1"/>
          <p:nvPr/>
        </p:nvSpPr>
        <p:spPr>
          <a:xfrm>
            <a:off x="7744968" y="5660136"/>
            <a:ext cx="3730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Mất kết nối AI vẫn tìm kiếm và xem tài liệu được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2F2C24"/>
                </a:solidFill>
                <a:latin typeface="Cambria"/>
              </a:rPr>
              <a:t>4. Nguồn dữ liệu và phương thức thu thập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E695C"/>
                </a:solidFill>
                <a:latin typeface="Calibri"/>
              </a:rPr>
              <a:t>ScholarLens · Graph RAG cho bài báo arXiv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E695C"/>
                </a:solidFill>
                <a:latin typeface="Calibri"/>
              </a:rPr>
              <a:t>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1280160"/>
            <a:ext cx="2567863" cy="109728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1344168"/>
            <a:ext cx="25678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C96442"/>
                </a:solidFill>
                <a:latin typeface="Cambria"/>
              </a:rPr>
              <a:t>492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1965960"/>
            <a:ext cx="25678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6E695C"/>
                </a:solidFill>
                <a:latin typeface="Calibri"/>
              </a:rPr>
              <a:t>bài báo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90823" y="1280160"/>
            <a:ext cx="2567863" cy="109728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90823" y="1344168"/>
            <a:ext cx="25678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C96442"/>
                </a:solidFill>
                <a:latin typeface="Cambria"/>
              </a:rPr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90823" y="1965960"/>
            <a:ext cx="25678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6E695C"/>
                </a:solidFill>
                <a:latin typeface="Calibri"/>
              </a:rPr>
              <a:t>bài có toàn văn PDF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3006" y="1280160"/>
            <a:ext cx="2567863" cy="109728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33006" y="1344168"/>
            <a:ext cx="25678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C96442"/>
                </a:solidFill>
                <a:latin typeface="Cambria"/>
              </a:rPr>
              <a:t>877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3006" y="1965960"/>
            <a:ext cx="25678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6E695C"/>
                </a:solidFill>
                <a:latin typeface="Calibri"/>
              </a:rPr>
              <a:t>đoạn văn đã xử lý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75189" y="1280160"/>
            <a:ext cx="2567863" cy="109728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75189" y="1344168"/>
            <a:ext cx="25678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C96442"/>
                </a:solidFill>
                <a:latin typeface="Cambria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5189" y="1965960"/>
            <a:ext cx="25678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6E695C"/>
                </a:solidFill>
                <a:latin typeface="Calibri"/>
              </a:rPr>
              <a:t>chủ đề thu thập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2697480"/>
            <a:ext cx="3515258" cy="274320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77240" y="2898648"/>
            <a:ext cx="502920" cy="50292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2926080"/>
            <a:ext cx="25094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libri"/>
              </a:rPr>
              <a:t>Kho arXiv, tự động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3611880"/>
            <a:ext cx="305805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F2C24"/>
                </a:solidFill>
                <a:latin typeface="Calibri"/>
              </a:rPr>
              <a:t>Hệ thống tự tải thông tin bài báo theo chủ đề hoặc lĩnh vực; bài quan trọng tải cả file PDF.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4846320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C96442"/>
                </a:solidFill>
                <a:latin typeface="Calibri"/>
              </a:rPr>
              <a:t>Dùng để cập nhật bài mới thường xuyên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38218" y="2697480"/>
            <a:ext cx="3515258" cy="274320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566818" y="2898648"/>
            <a:ext cx="502920" cy="50292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06898" y="2926080"/>
            <a:ext cx="25094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libri"/>
              </a:rPr>
              <a:t>Bộ dữ liệu arXiv trên Kaggle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6818" y="3611880"/>
            <a:ext cx="305805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F2C24"/>
                </a:solidFill>
                <a:latin typeface="Calibri"/>
              </a:rPr>
              <a:t>Bản sao thông tin khoảng 2,7 triệu bài, nạp một lần với số lượng lớn.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66818" y="4846320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C96442"/>
                </a:solidFill>
                <a:latin typeface="Calibri"/>
              </a:rPr>
              <a:t>Dùng khi cần mở rộng kho nhanh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27796" y="2697480"/>
            <a:ext cx="3515258" cy="274320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356396" y="2898648"/>
            <a:ext cx="502920" cy="50292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96476" y="2926080"/>
            <a:ext cx="25094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libri"/>
              </a:rPr>
              <a:t>Người dùng tải lên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56396" y="3611880"/>
            <a:ext cx="305805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F2C24"/>
                </a:solidFill>
                <a:latin typeface="Calibri"/>
              </a:rPr>
              <a:t>Kéo-thả file PDF; hệ thống tự tra thông tin chuẩn của bài trên arXiv.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56396" y="4846320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C96442"/>
                </a:solidFill>
                <a:latin typeface="Calibri"/>
              </a:rPr>
              <a:t>Dùng cho tài liệu riêng cần hỏi ngay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6692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Thu thập đúng quy định của arXiv (nghỉ 3 giây giữa các lần gọi) và tự bỏ qua bài đã có.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2F2C24"/>
                </a:solidFill>
                <a:latin typeface="Cambria"/>
              </a:rPr>
              <a:t>5. Tổ chức dữ liệu phục vụ tìm kiếm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E695C"/>
                </a:solidFill>
                <a:latin typeface="Calibri"/>
              </a:rPr>
              <a:t>ScholarLens · Graph RAG cho bài báo arXiv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E695C"/>
                </a:solidFill>
                <a:latin typeface="Calibri"/>
              </a:rPr>
              <a:t>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325880"/>
            <a:ext cx="2567863" cy="288036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9808" y="1508760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2103120"/>
            <a:ext cx="216552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libri"/>
              </a:rPr>
              <a:t>Thông tin bài báo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2743200"/>
            <a:ext cx="216552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Lưu tiêu đề, tác giả, năm và nội dung từng đoạn; dùng để kiểm tra bài trùng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3703320"/>
            <a:ext cx="2165527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3703320"/>
            <a:ext cx="216552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C96442"/>
                </a:solidFill>
                <a:latin typeface="Calibri"/>
              </a:rPr>
              <a:t>SQLite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90823" y="1325880"/>
            <a:ext cx="2567863" cy="288036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91991" y="1508760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1991" y="2103120"/>
            <a:ext cx="216552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libri"/>
              </a:rPr>
              <a:t>Tìm theo ý nghĩa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91991" y="2743200"/>
            <a:ext cx="216552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Biến mỗi đoạn văn thành vector để tìm được câu cùng ý dù khác từ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91991" y="3703320"/>
            <a:ext cx="2165527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91991" y="3703320"/>
            <a:ext cx="216552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C96442"/>
                </a:solidFill>
                <a:latin typeface="Calibri"/>
              </a:rPr>
              <a:t>ChromaDB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3006" y="1325880"/>
            <a:ext cx="2567863" cy="288036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34174" y="1508760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4174" y="2103120"/>
            <a:ext cx="216552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libri"/>
              </a:rPr>
              <a:t>Tìm theo từ khoá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4174" y="2743200"/>
            <a:ext cx="216552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Tìm chính xác thuật ngữ, tên phương pháp, tên bộ dữ liệu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34174" y="3703320"/>
            <a:ext cx="2165527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4174" y="3703320"/>
            <a:ext cx="216552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C96442"/>
                </a:solidFill>
                <a:latin typeface="Calibri"/>
              </a:rPr>
              <a:t>BM25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75189" y="1325880"/>
            <a:ext cx="2567863" cy="288036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276357" y="1508760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76357" y="2103120"/>
            <a:ext cx="216552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libri"/>
              </a:rPr>
              <a:t>Quan hệ giữa các bài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76357" y="2743200"/>
            <a:ext cx="216552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Nối bài với tác giả, chủ đề, trích dẫn để gợi ý bài liên quan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76357" y="3703320"/>
            <a:ext cx="2165527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76357" y="3703320"/>
            <a:ext cx="216552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C96442"/>
                </a:solidFill>
                <a:latin typeface="Calibri"/>
              </a:rPr>
              <a:t>Đồ thị NetworkX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448056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F6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4572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C96442"/>
                </a:solidFill>
                <a:latin typeface="Calibri"/>
              </a:rPr>
              <a:t>Khi thêm một tài liệu mới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60" y="5029200"/>
            <a:ext cx="233172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02920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2F2C24"/>
                </a:solidFill>
                <a:latin typeface="Calibri"/>
              </a:rPr>
              <a:t>Kiểm tra đã có chưa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200400" y="5303520"/>
            <a:ext cx="314858" cy="0"/>
          </a:xfrm>
          <a:prstGeom prst="line">
            <a:avLst/>
          </a:prstGeom>
          <a:ln w="19050">
            <a:solidFill>
              <a:srgbClr val="6E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3560978" y="5029200"/>
            <a:ext cx="233172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60978" y="502920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2F2C24"/>
                </a:solidFill>
                <a:latin typeface="Calibri"/>
              </a:rPr>
              <a:t>Đọc nội dung PDF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938418" y="5303520"/>
            <a:ext cx="314858" cy="0"/>
          </a:xfrm>
          <a:prstGeom prst="line">
            <a:avLst/>
          </a:prstGeom>
          <a:ln w="19050">
            <a:solidFill>
              <a:srgbClr val="6E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6298996" y="5029200"/>
            <a:ext cx="233172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98996" y="502920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2F2C24"/>
                </a:solidFill>
                <a:latin typeface="Calibri"/>
              </a:rPr>
              <a:t>Ghi vào cả 4 kho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676436" y="5303520"/>
            <a:ext cx="314858" cy="0"/>
          </a:xfrm>
          <a:prstGeom prst="line">
            <a:avLst/>
          </a:prstGeom>
          <a:ln w="19050">
            <a:solidFill>
              <a:srgbClr val="6E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9037014" y="5029200"/>
            <a:ext cx="233172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37014" y="502920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96442"/>
                </a:solidFill>
                <a:latin typeface="Calibri"/>
              </a:rPr>
              <a:t>Sẵn sàng tìm kiếm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Bài đã có thì dừng ngay và báo lại, không lưu trùng. Toàn bộ quá trình mất khoảng 30 giây mỗi bài.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2F2C24"/>
                </a:solidFill>
                <a:latin typeface="Cambria"/>
              </a:rPr>
              <a:t>6. Hệ thống tìm kiếm: khớp từ khoá + khớp ý nghĩa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33172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262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423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Câu hỏi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C9C5B8"/>
                </a:solidFill>
                <a:latin typeface="Calibri"/>
              </a:rPr>
              <a:t>Việt hoặc Anh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463040"/>
            <a:ext cx="2377440" cy="100584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0" y="157276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2F2C24"/>
                </a:solidFill>
                <a:latin typeface="Calibri"/>
              </a:rPr>
              <a:t>BM25 top-50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3852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E695C"/>
                </a:solidFill>
                <a:latin typeface="Calibri"/>
              </a:rPr>
              <a:t>khớp từ vựng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679192" y="1965960"/>
            <a:ext cx="493776" cy="868680"/>
          </a:xfrm>
          <a:prstGeom prst="line">
            <a:avLst/>
          </a:prstGeom>
          <a:ln w="19050">
            <a:solidFill>
              <a:srgbClr val="6E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605272" y="1965960"/>
            <a:ext cx="859536" cy="868680"/>
          </a:xfrm>
          <a:prstGeom prst="line">
            <a:avLst/>
          </a:prstGeom>
          <a:ln w="19050">
            <a:solidFill>
              <a:srgbClr val="6E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00400" y="3200400"/>
            <a:ext cx="2377440" cy="100584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331012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2F2C24"/>
                </a:solidFill>
                <a:latin typeface="Calibri"/>
              </a:rPr>
              <a:t>Dense top-50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67588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E695C"/>
                </a:solidFill>
                <a:latin typeface="Calibri"/>
              </a:rPr>
              <a:t>multilingual-e5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79192" y="2834640"/>
            <a:ext cx="493776" cy="868680"/>
          </a:xfrm>
          <a:prstGeom prst="line">
            <a:avLst/>
          </a:prstGeom>
          <a:ln w="19050">
            <a:solidFill>
              <a:srgbClr val="6E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605272" y="2834640"/>
            <a:ext cx="859536" cy="868680"/>
          </a:xfrm>
          <a:prstGeom prst="line">
            <a:avLst/>
          </a:prstGeom>
          <a:ln w="19050">
            <a:solidFill>
              <a:srgbClr val="6E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92240" y="2286000"/>
            <a:ext cx="2194560" cy="1097280"/>
          </a:xfrm>
          <a:prstGeom prst="roundRect">
            <a:avLst>
              <a:gd name="adj" fmla="val 8000"/>
            </a:avLst>
          </a:prstGeom>
          <a:solidFill>
            <a:srgbClr val="F6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23774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C96442"/>
                </a:solidFill>
                <a:latin typeface="Calibri"/>
              </a:rPr>
              <a:t>RRF, k = 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432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2F2C24"/>
                </a:solidFill>
                <a:latin typeface="Cambria"/>
              </a:rPr>
              <a:t>Σ 1 / (k + rank)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14232" y="2834640"/>
            <a:ext cx="493776" cy="0"/>
          </a:xfrm>
          <a:prstGeom prst="line">
            <a:avLst/>
          </a:prstGeom>
          <a:ln w="19050">
            <a:solidFill>
              <a:srgbClr val="6E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35440" y="2286000"/>
            <a:ext cx="2404872" cy="109728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40" y="2377440"/>
            <a:ext cx="2404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2F2C24"/>
                </a:solidFill>
                <a:latin typeface="Calibri"/>
              </a:rPr>
              <a:t>Cấp bài báo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743200"/>
            <a:ext cx="22219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E695C"/>
                </a:solidFill>
                <a:latin typeface="Calibri"/>
              </a:rPr>
              <a:t>max + 0,3 × tổng còn lại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26280"/>
            <a:ext cx="1109441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600"/>
              </a:spcAft>
              <a:buClr>
                <a:srgbClr val="C96442"/>
              </a:buClr>
              <a:buChar char="•"/>
            </a:pPr>
            <a:r>
              <a:rPr sz="1500" b="1">
                <a:solidFill>
                  <a:srgbClr val="2F2C24"/>
                </a:solidFill>
                <a:latin typeface="Calibri"/>
              </a:rPr>
              <a:t>Chunk tóm tắt </a:t>
            </a:r>
            <a:r>
              <a:rPr sz="1500" b="0">
                <a:solidFill>
                  <a:srgbClr val="2F2C24"/>
                </a:solidFill>
                <a:latin typeface="Calibri"/>
              </a:rPr>
              <a:t>(tiêu đề + abstract) giúp bài không có PDF vẫn tìm được; chunk nội dung 220 từ, chồng 40, gắn trang + section để trích dẫn.</a:t>
            </a:r>
          </a:p>
          <a:p>
            <a:pPr marL="228600" indent="-228600">
              <a:spcAft>
                <a:spcPts val="600"/>
              </a:spcAft>
              <a:buClr>
                <a:srgbClr val="C96442"/>
              </a:buClr>
              <a:buChar char="•"/>
            </a:pPr>
            <a:r>
              <a:rPr sz="1500" b="1">
                <a:solidFill>
                  <a:srgbClr val="2F2C24"/>
                </a:solidFill>
                <a:latin typeface="Calibri"/>
              </a:rPr>
              <a:t>Embedding đa ngôn ngữ </a:t>
            </a:r>
            <a:r>
              <a:rPr sz="1500" b="0">
                <a:solidFill>
                  <a:srgbClr val="2F2C24"/>
                </a:solidFill>
                <a:latin typeface="Calibri"/>
              </a:rPr>
              <a:t>cho phép hỏi bằng tiếng Việt trên kho tiếng Anh; GPU fp16 trên Kaggle, CPU khi demo.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E695C"/>
                </a:solidFill>
                <a:latin typeface="Calibri"/>
              </a:rPr>
              <a:t>ScholarLens · Graph RAG cho bài báo arXiv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E695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2F2C24"/>
                </a:solidFill>
                <a:latin typeface="Cambria"/>
              </a:rPr>
              <a:t>7. Chatbot: hai chế độ trò chuyện và nghiên cứu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609344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mbria"/>
              </a:rPr>
              <a:t>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121408"/>
            <a:ext cx="3163824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400"/>
              </a:spcAft>
              <a:buClr>
                <a:srgbClr val="C96442"/>
              </a:buClr>
              <a:buChar char="•"/>
            </a:pPr>
            <a:r>
              <a:rPr sz="1400" b="0">
                <a:solidFill>
                  <a:srgbClr val="2F2C24"/>
                </a:solidFill>
                <a:latin typeface="Calibri"/>
              </a:rPr>
              <a:t>Trò chuyện, giải thích khái niệm</a:t>
            </a:r>
          </a:p>
          <a:p>
            <a:pPr marL="228600" indent="-228600">
              <a:spcAft>
                <a:spcPts val="400"/>
              </a:spcAft>
              <a:buClr>
                <a:srgbClr val="C96442"/>
              </a:buClr>
              <a:buChar char="•"/>
            </a:pPr>
            <a:r>
              <a:rPr sz="1400" b="0">
                <a:solidFill>
                  <a:srgbClr val="2F2C24"/>
                </a:solidFill>
                <a:latin typeface="Calibri"/>
              </a:rPr>
              <a:t>Không truy xuất, phản hồi nhanh</a:t>
            </a:r>
          </a:p>
          <a:p>
            <a:pPr marL="228600" indent="-228600">
              <a:spcAft>
                <a:spcPts val="400"/>
              </a:spcAft>
              <a:buClr>
                <a:srgbClr val="C96442"/>
              </a:buClr>
              <a:buChar char="•"/>
            </a:pPr>
            <a:r>
              <a:rPr sz="1400" b="0">
                <a:solidFill>
                  <a:srgbClr val="2F2C24"/>
                </a:solidFill>
                <a:latin typeface="Calibri"/>
              </a:rPr>
              <a:t>Gợi ý chuyển Research khi cần nguồn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0332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6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3941064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mbria"/>
              </a:rPr>
              <a:t>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453128"/>
            <a:ext cx="3163824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400"/>
              </a:spcAft>
              <a:buClr>
                <a:srgbClr val="C96442"/>
              </a:buClr>
              <a:buChar char="•"/>
            </a:pPr>
            <a:r>
              <a:rPr sz="1400" b="0">
                <a:solidFill>
                  <a:srgbClr val="2F2C24"/>
                </a:solidFill>
                <a:latin typeface="Calibri"/>
              </a:rPr>
              <a:t>Graph RAG + trích dẫn [n] bắt buộc</a:t>
            </a:r>
          </a:p>
          <a:p>
            <a:pPr marL="228600" indent="-228600">
              <a:spcAft>
                <a:spcPts val="400"/>
              </a:spcAft>
              <a:buClr>
                <a:srgbClr val="C96442"/>
              </a:buClr>
              <a:buChar char="•"/>
            </a:pPr>
            <a:r>
              <a:rPr sz="1400" b="0">
                <a:solidFill>
                  <a:srgbClr val="2F2C24"/>
                </a:solidFill>
                <a:latin typeface="Calibri"/>
              </a:rPr>
              <a:t>Hỏi theo bài focus và bài liên quan</a:t>
            </a:r>
          </a:p>
          <a:p>
            <a:pPr marL="228600" indent="-228600">
              <a:spcAft>
                <a:spcPts val="400"/>
              </a:spcAft>
              <a:buClr>
                <a:srgbClr val="C96442"/>
              </a:buClr>
              <a:buChar char="•"/>
            </a:pPr>
            <a:r>
              <a:rPr sz="1400" b="0">
                <a:solidFill>
                  <a:srgbClr val="2F2C24"/>
                </a:solidFill>
                <a:latin typeface="Calibri"/>
              </a:rPr>
              <a:t>Không đủ ngữ cảnh → nói rõ, không bịa</a:t>
            </a:r>
          </a:p>
        </p:txBody>
      </p:sp>
      <p:sp>
        <p:nvSpPr>
          <p:cNvPr id="9" name="Oval 8"/>
          <p:cNvSpPr/>
          <p:nvPr/>
        </p:nvSpPr>
        <p:spPr>
          <a:xfrm>
            <a:off x="4572000" y="1463040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libri"/>
              </a:rPr>
              <a:t>Định tuyến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4630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E695C"/>
                </a:solidFill>
                <a:latin typeface="Calibri"/>
              </a:rPr>
              <a:t>focus / chào hỏi / mặc định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0600" y="1938528"/>
            <a:ext cx="0" cy="246888"/>
          </a:xfrm>
          <a:prstGeom prst="line">
            <a:avLst/>
          </a:prstGeom>
          <a:ln w="19050">
            <a:solidFill>
              <a:srgbClr val="D9D5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572000" y="2203704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15798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libri"/>
              </a:rPr>
              <a:t>Viết lại câu hỏi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203704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E695C"/>
                </a:solidFill>
                <a:latin typeface="Calibri"/>
              </a:rPr>
              <a:t>truy vấn tiếng Anh độc lập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00600" y="2679192"/>
            <a:ext cx="0" cy="246888"/>
          </a:xfrm>
          <a:prstGeom prst="line">
            <a:avLst/>
          </a:prstGeom>
          <a:ln w="19050">
            <a:solidFill>
              <a:srgbClr val="D9D5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572000" y="2944368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89864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libri"/>
              </a:rPr>
              <a:t>Hybrid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94436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E695C"/>
                </a:solidFill>
                <a:latin typeface="Calibri"/>
              </a:rPr>
              <a:t>5 bài seed, 2 đoạn mỗi bài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00600" y="3419856"/>
            <a:ext cx="0" cy="246888"/>
          </a:xfrm>
          <a:prstGeom prst="line">
            <a:avLst/>
          </a:prstGeom>
          <a:ln w="19050">
            <a:solidFill>
              <a:srgbClr val="D9D5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572000" y="3685032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63931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libri"/>
              </a:rPr>
              <a:t>Mở rộng đồ thị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368503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E695C"/>
                </a:solidFill>
                <a:latin typeface="Calibri"/>
              </a:rPr>
              <a:t>láng giềng + quan hệ thành câu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00600" y="4160520"/>
            <a:ext cx="0" cy="246888"/>
          </a:xfrm>
          <a:prstGeom prst="line">
            <a:avLst/>
          </a:prstGeom>
          <a:ln w="19050">
            <a:solidFill>
              <a:srgbClr val="D9D5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572000" y="4425696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4379976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libri"/>
              </a:rPr>
              <a:t>Sinh câu trả lời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425696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E695C"/>
                </a:solidFill>
                <a:latin typeface="Calibri"/>
              </a:rPr>
              <a:t>streaming SSE, trích dẫn [n]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800600" y="4901184"/>
            <a:ext cx="0" cy="246888"/>
          </a:xfrm>
          <a:prstGeom prst="line">
            <a:avLst/>
          </a:prstGeom>
          <a:ln w="19050">
            <a:solidFill>
              <a:srgbClr val="D9D5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572000" y="5166360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51206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libri"/>
              </a:rPr>
              <a:t>Lưu hội thoại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51663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E695C"/>
                </a:solidFill>
                <a:latin typeface="Calibri"/>
              </a:rPr>
              <a:t>kèm nguồn và đồ thị con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E695C"/>
                </a:solidFill>
                <a:latin typeface="Calibri"/>
              </a:rPr>
              <a:t>ScholarLens · Graph RAG cho bài báo arXiv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E695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2F2C24"/>
                </a:solidFill>
                <a:latin typeface="Cambria"/>
              </a:rPr>
              <a:t>7. Chatbot: gợi ý bài liên quan qua đồ thị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C96442"/>
                </a:solidFill>
                <a:latin typeface="Cambria"/>
              </a:rPr>
              <a:t>4 loại nút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74520"/>
            <a:ext cx="237744" cy="237744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819656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F2C24"/>
                </a:solidFill>
                <a:latin typeface="Calibri"/>
              </a:rPr>
              <a:t>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1828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E695C"/>
                </a:solidFill>
                <a:latin typeface="Calibri"/>
              </a:rPr>
              <a:t>bài báo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819656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>
                <a:solidFill>
                  <a:srgbClr val="2F2C24"/>
                </a:solidFill>
                <a:latin typeface="Calibri"/>
              </a:rPr>
              <a:t>492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77440"/>
            <a:ext cx="237744" cy="237744"/>
          </a:xfrm>
          <a:prstGeom prst="ellipse">
            <a:avLst/>
          </a:prstGeom>
          <a:solidFill>
            <a:srgbClr val="5B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F2C24"/>
                </a:solidFill>
                <a:latin typeface="Calibri"/>
              </a:rPr>
              <a:t>author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3317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E695C"/>
                </a:solidFill>
                <a:latin typeface="Calibri"/>
              </a:rPr>
              <a:t>tác giả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22576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>
                <a:solidFill>
                  <a:srgbClr val="2F2C24"/>
                </a:solidFill>
                <a:latin typeface="Calibri"/>
              </a:rPr>
              <a:t>2.232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880360"/>
            <a:ext cx="237744" cy="237744"/>
          </a:xfrm>
          <a:prstGeom prst="ellipse">
            <a:avLst/>
          </a:prstGeom>
          <a:solidFill>
            <a:srgbClr val="5E8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2825496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F2C24"/>
                </a:solidFill>
                <a:latin typeface="Calibri"/>
              </a:rPr>
              <a:t>concept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8346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E695C"/>
                </a:solidFill>
                <a:latin typeface="Calibri"/>
              </a:rPr>
              <a:t>khái niệm (keyphrase)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825496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>
                <a:solidFill>
                  <a:srgbClr val="2F2C24"/>
                </a:solidFill>
                <a:latin typeface="Calibri"/>
              </a:rPr>
              <a:t>2.805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383280"/>
            <a:ext cx="237744" cy="237744"/>
          </a:xfrm>
          <a:prstGeom prst="ellipse">
            <a:avLst/>
          </a:prstGeom>
          <a:solidFill>
            <a:srgbClr val="6E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328416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F2C24"/>
                </a:solidFill>
                <a:latin typeface="Calibri"/>
              </a:rPr>
              <a:t>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3375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E695C"/>
                </a:solidFill>
                <a:latin typeface="Calibri"/>
              </a:rPr>
              <a:t>chuyên mục arXiv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328416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>
                <a:solidFill>
                  <a:srgbClr val="2F2C24"/>
                </a:solidFill>
                <a:latin typeface="Calibri"/>
              </a:rPr>
              <a:t>69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8620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C96442"/>
                </a:solidFill>
                <a:latin typeface="Cambria"/>
              </a:rPr>
              <a:t>5 loại cạnh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15968"/>
            <a:ext cx="155448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F2C24"/>
                </a:solidFill>
                <a:latin typeface="Calibri"/>
              </a:rPr>
              <a:t>CITES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4315968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paper → paper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315968"/>
            <a:ext cx="82296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2F2C24"/>
                </a:solidFill>
                <a:latin typeface="Calibri"/>
              </a:rPr>
              <a:t>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17720"/>
            <a:ext cx="155448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F2C24"/>
                </a:solidFill>
                <a:latin typeface="Calibri"/>
              </a:rPr>
              <a:t>SIMILAR_TO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4617720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cosine ≥ 0,75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617720"/>
            <a:ext cx="82296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2F2C24"/>
                </a:solidFill>
                <a:latin typeface="Calibri"/>
              </a:rPr>
              <a:t>2.052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919472"/>
            <a:ext cx="155448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F2C24"/>
                </a:solidFill>
                <a:latin typeface="Calibri"/>
              </a:rPr>
              <a:t>WRITTEN_BY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4919472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paper → author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919472"/>
            <a:ext cx="82296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2F2C24"/>
                </a:solidFill>
                <a:latin typeface="Calibri"/>
              </a:rPr>
              <a:t>2.354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221224"/>
            <a:ext cx="155448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F2C24"/>
                </a:solidFill>
                <a:latin typeface="Calibri"/>
              </a:rPr>
              <a:t>MENTIONS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5221224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paper → concept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221224"/>
            <a:ext cx="82296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2F2C24"/>
                </a:solidFill>
                <a:latin typeface="Calibri"/>
              </a:rPr>
              <a:t>2.952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522976"/>
            <a:ext cx="155448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F2C24"/>
                </a:solidFill>
                <a:latin typeface="Calibri"/>
              </a:rPr>
              <a:t>IN_CATEGORY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5522976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paper → category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522976"/>
            <a:ext cx="82296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2F2C24"/>
                </a:solidFill>
                <a:latin typeface="Calibri"/>
              </a:rPr>
              <a:t>881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0" y="1371600"/>
            <a:ext cx="6885432" cy="443484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0" y="150876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2F2C24"/>
                </a:solidFill>
                <a:latin typeface="Cambria"/>
              </a:rPr>
              <a:t>Điểm liên quan của q với 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201168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96442"/>
                </a:solidFill>
                <a:latin typeface="Cambria"/>
              </a:rPr>
              <a:t>score = 1[CITES] + cos(SIMILAR) + Σ w(e) / log₂(2 + deg 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2697480"/>
            <a:ext cx="630936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C96442"/>
              </a:buClr>
              <a:buChar char="•"/>
            </a:pPr>
            <a:r>
              <a:rPr sz="1500" b="1">
                <a:solidFill>
                  <a:srgbClr val="2F2C24"/>
                </a:solidFill>
                <a:latin typeface="Calibri"/>
              </a:rPr>
              <a:t>Trích dẫn </a:t>
            </a:r>
            <a:r>
              <a:rPr sz="1500" b="0">
                <a:solidFill>
                  <a:srgbClr val="2F2C24"/>
                </a:solidFill>
                <a:latin typeface="Calibri"/>
              </a:rPr>
              <a:t>(2 chiều, từ arXiv ID trong References): +1</a:t>
            </a:r>
          </a:p>
          <a:p>
            <a:pPr marL="228600" indent="-228600">
              <a:spcAft>
                <a:spcPts val="800"/>
              </a:spcAft>
              <a:buClr>
                <a:srgbClr val="C96442"/>
              </a:buClr>
              <a:buChar char="•"/>
            </a:pPr>
            <a:r>
              <a:rPr sz="1500" b="1">
                <a:solidFill>
                  <a:srgbClr val="2F2C24"/>
                </a:solidFill>
                <a:latin typeface="Calibri"/>
              </a:rPr>
              <a:t>Tương đồng nội dung </a:t>
            </a:r>
            <a:r>
              <a:rPr sz="1500" b="0">
                <a:solidFill>
                  <a:srgbClr val="2F2C24"/>
                </a:solidFill>
                <a:latin typeface="Calibri"/>
              </a:rPr>
              <a:t>top-5 cosine ≥ 0,75 giữa vector bài</a:t>
            </a:r>
          </a:p>
          <a:p>
            <a:pPr marL="228600" indent="-228600">
              <a:spcAft>
                <a:spcPts val="800"/>
              </a:spcAft>
              <a:buClr>
                <a:srgbClr val="C96442"/>
              </a:buClr>
              <a:buChar char="•"/>
            </a:pPr>
            <a:r>
              <a:rPr sz="1500" b="1">
                <a:solidFill>
                  <a:srgbClr val="2F2C24"/>
                </a:solidFill>
                <a:latin typeface="Calibri"/>
              </a:rPr>
              <a:t>Cùng tác giả </a:t>
            </a:r>
            <a:r>
              <a:rPr sz="1500" b="0">
                <a:solidFill>
                  <a:srgbClr val="2F2C24"/>
                </a:solidFill>
                <a:latin typeface="Calibri"/>
              </a:rPr>
              <a:t>w = 0,6 · cùng khái niệm w = 0,45 · cùng category 0,05</a:t>
            </a:r>
          </a:p>
          <a:p>
            <a:pPr marL="228600" indent="-228600">
              <a:spcAft>
                <a:spcPts val="800"/>
              </a:spcAft>
              <a:buClr>
                <a:srgbClr val="C96442"/>
              </a:buClr>
              <a:buChar char="•"/>
            </a:pPr>
            <a:r>
              <a:rPr sz="1500" b="1">
                <a:solidFill>
                  <a:srgbClr val="2F2C24"/>
                </a:solidFill>
                <a:latin typeface="Calibri"/>
              </a:rPr>
              <a:t>Khái niệm </a:t>
            </a:r>
            <a:r>
              <a:rPr sz="1500" b="0">
                <a:solidFill>
                  <a:srgbClr val="2F2C24"/>
                </a:solidFill>
                <a:latin typeface="Calibri"/>
              </a:rPr>
              <a:t>trích bằng KeyBERT rút gọn: n-gram → cosine với bài → MMR</a:t>
            </a:r>
          </a:p>
          <a:p>
            <a:pPr marL="228600" indent="-228600">
              <a:spcAft>
                <a:spcPts val="800"/>
              </a:spcAft>
              <a:buClr>
                <a:srgbClr val="C96442"/>
              </a:buClr>
              <a:buChar char="•"/>
            </a:pPr>
            <a:r>
              <a:rPr sz="1500" b="1">
                <a:solidFill>
                  <a:srgbClr val="2F2C24"/>
                </a:solidFill>
                <a:latin typeface="Calibri"/>
              </a:rPr>
              <a:t>Kết quả kèm lý do: </a:t>
            </a:r>
            <a:r>
              <a:rPr sz="1500" b="0">
                <a:solidFill>
                  <a:srgbClr val="2F2C24"/>
                </a:solidFill>
                <a:latin typeface="Calibri"/>
              </a:rPr>
              <a:t>“trích dẫn bài này · cùng khái niệm dense retrieval”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E695C"/>
                </a:solidFill>
                <a:latin typeface="Calibri"/>
              </a:rPr>
              <a:t>ScholarLens · Graph RAG cho bài báo arXiv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E695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2F2C24"/>
                </a:solidFill>
                <a:latin typeface="Cambria"/>
              </a:rPr>
              <a:t>7. Chatbot: mô hình AI chạy trên máy chủ GPU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262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6692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0C8B4"/>
                </a:solidFill>
                <a:latin typeface="Courier New"/>
              </a:rPr>
              <a:t>python -m scholarlens.llm_server \</a:t>
            </a:r>
          </a:p>
          <a:p>
            <a:r>
              <a:rPr sz="1400">
                <a:solidFill>
                  <a:srgbClr val="F0C8B4"/>
                </a:solidFill>
                <a:latin typeface="Courier New"/>
              </a:rPr>
              <a:t>    --preset qwen2.5-7b-awq --tunnel cloudflared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651760"/>
            <a:ext cx="411480" cy="41148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7004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F2C24"/>
                </a:solidFill>
                <a:latin typeface="Calibri"/>
              </a:rPr>
              <a:t>Dò GPU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688336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E695C"/>
                </a:solidFill>
                <a:latin typeface="Calibri"/>
              </a:rPr>
              <a:t>T4 (cc 7.5) → float16; 2 GPU → tensor-parallel 2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91840"/>
            <a:ext cx="411480" cy="41148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31012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F2C24"/>
                </a:solidFill>
                <a:latin typeface="Calibri"/>
              </a:rPr>
              <a:t>Chạy vLLM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328416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E695C"/>
                </a:solidFill>
                <a:latin typeface="Calibri"/>
              </a:rPr>
              <a:t>OpenAI API, prefix caching, enforce-eager trên T4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931920"/>
            <a:ext cx="411480" cy="41148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95020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F2C24"/>
                </a:solidFill>
                <a:latin typeface="Calibri"/>
              </a:rPr>
              <a:t>Chờ sẵn sàng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968496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E695C"/>
                </a:solidFill>
                <a:latin typeface="Calibri"/>
              </a:rPr>
              <a:t>GET /v1/models trả 200, log ra data/llm_server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572000"/>
            <a:ext cx="411480" cy="41148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59028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F2C24"/>
                </a:solidFill>
                <a:latin typeface="Calibri"/>
              </a:rPr>
              <a:t>Mở tunnel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608576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E695C"/>
                </a:solidFill>
                <a:latin typeface="Calibri"/>
              </a:rPr>
              <a:t>cloudflared hoặc ngrok → URL công khai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212080"/>
            <a:ext cx="411480" cy="41148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230368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F2C24"/>
                </a:solidFill>
                <a:latin typeface="Calibri"/>
              </a:rPr>
              <a:t>In cấu hình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248656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E695C"/>
                </a:solidFill>
                <a:latin typeface="Calibri"/>
              </a:rPr>
              <a:t>4 dòng .env + gọi thử một câu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13716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C96442"/>
                </a:solidFill>
                <a:latin typeface="Cambria"/>
              </a:rPr>
              <a:t>Model gợi ý (preset)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040880" y="1874519"/>
          <a:ext cx="459943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preset</a:t>
                      </a:r>
                    </a:p>
                  </a:txBody>
                  <a:tcPr>
                    <a:solidFill>
                      <a:srgbClr val="C96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repo Hugging Face</a:t>
                      </a:r>
                    </a:p>
                  </a:txBody>
                  <a:tcPr>
                    <a:solidFill>
                      <a:srgbClr val="C964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GPU</a:t>
                      </a:r>
                    </a:p>
                  </a:txBody>
                  <a:tcPr>
                    <a:solidFill>
                      <a:srgbClr val="C964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F2C24"/>
                          </a:solidFill>
                          <a:latin typeface="Calibri"/>
                        </a:rPr>
                        <a:t>qwen2.5-7b-awq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F2C24"/>
                          </a:solidFill>
                          <a:latin typeface="Calibri"/>
                        </a:rPr>
                        <a:t>Qwen2.5-7B-Instruct-AWQ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F2C24"/>
                          </a:solidFill>
                          <a:latin typeface="Calibri"/>
                        </a:rPr>
                        <a:t>2×T4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F2C24"/>
                          </a:solidFill>
                          <a:latin typeface="Calibri"/>
                        </a:rPr>
                        <a:t>qwen2.5-3b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F2C24"/>
                          </a:solidFill>
                          <a:latin typeface="Calibri"/>
                        </a:rPr>
                        <a:t>Qwen2.5-3B-Instruct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F2C24"/>
                          </a:solidFill>
                          <a:latin typeface="Calibri"/>
                        </a:rPr>
                        <a:t>1×T4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F2C24"/>
                          </a:solidFill>
                          <a:latin typeface="Calibri"/>
                        </a:rPr>
                        <a:t>qwen2.5-1.5b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F2C24"/>
                          </a:solidFill>
                          <a:latin typeface="Calibri"/>
                        </a:rPr>
                        <a:t>Qwen2.5-1.5B-Instruct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F2C24"/>
                          </a:solidFill>
                          <a:latin typeface="Calibri"/>
                        </a:rPr>
                        <a:t>1×T4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F2C24"/>
                          </a:solidFill>
                          <a:latin typeface="Calibri"/>
                        </a:rPr>
                        <a:t>llama3.1-8b-awq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F2C24"/>
                          </a:solidFill>
                          <a:latin typeface="Calibri"/>
                        </a:rPr>
                        <a:t>Llama-3.1-8B-Instruct AWQ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F2C24"/>
                          </a:solidFill>
                          <a:latin typeface="Calibri"/>
                        </a:rPr>
                        <a:t>2×T4, HF_TOKEN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F2C24"/>
                          </a:solidFill>
                          <a:latin typeface="Calibri"/>
                        </a:rPr>
                        <a:t>qwen2.5-14b-awq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F2C24"/>
                          </a:solidFill>
                          <a:latin typeface="Calibri"/>
                        </a:rPr>
                        <a:t>Qwen2.5-14B-Instruct-AWQ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F2C24"/>
                          </a:solidFill>
                          <a:latin typeface="Calibri"/>
                        </a:rPr>
                        <a:t>2×T4, 8k ctx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040880" y="4892040"/>
            <a:ext cx="45994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Bất kỳ repo Hugging Face nào vLLM hỗ trợ: --model &lt;repo&gt;; tham số lạ sau -- được chuyển thẳng cho vLLM.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E695C"/>
                </a:solidFill>
                <a:latin typeface="Calibri"/>
              </a:rPr>
              <a:t>ScholarLens · Graph RAG cho bài báo arXiv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E695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2F2C24"/>
                </a:solidFill>
                <a:latin typeface="Cambria"/>
              </a:rPr>
              <a:t>8. Báo cáo kỹ thuật: kết quả đánh giá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C96442"/>
                </a:solidFill>
                <a:latin typeface="Cambria"/>
              </a:rPr>
              <a:t>Truy xuất known-item · 492 bài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>
                <a:solidFill>
                  <a:srgbClr val="C96442"/>
                </a:solidFill>
                <a:latin typeface="Cambria"/>
              </a:rPr>
              <a:t>0,957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97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E695C"/>
                </a:solidFill>
                <a:latin typeface="Calibri"/>
              </a:rPr>
              <a:t>BM25 · Recall@1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82880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63240" y="192024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>
                <a:solidFill>
                  <a:srgbClr val="C96442"/>
                </a:solidFill>
                <a:latin typeface="Cambria"/>
              </a:rPr>
              <a:t>0,996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697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E695C"/>
                </a:solidFill>
                <a:latin typeface="Calibri"/>
              </a:rPr>
              <a:t>BM25 · Recall@10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82880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77840" y="192024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>
                <a:solidFill>
                  <a:srgbClr val="C96442"/>
                </a:solidFill>
                <a:latin typeface="Cambria"/>
              </a:rPr>
              <a:t>0,973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697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E695C"/>
                </a:solidFill>
                <a:latin typeface="Calibri"/>
              </a:rPr>
              <a:t>BM25 · MRR@10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73152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C96442"/>
              </a:buClr>
              <a:buChar char="•"/>
            </a:pPr>
            <a:r>
              <a:rPr sz="1500" b="1">
                <a:solidFill>
                  <a:srgbClr val="2F2C24"/>
                </a:solidFill>
                <a:latin typeface="Calibri"/>
              </a:rPr>
              <a:t>Giao thức: </a:t>
            </a:r>
            <a:r>
              <a:rPr sz="1500" b="0">
                <a:solidFill>
                  <a:srgbClr val="2F2C24"/>
                </a:solidFill>
                <a:latin typeface="Calibri"/>
              </a:rPr>
              <a:t>truy vấn = tiêu đề, kho = abstract (không chứa tiêu đề), đáp án duy nhất là chính bài đó</a:t>
            </a:r>
          </a:p>
          <a:p>
            <a:pPr marL="228600" indent="-228600">
              <a:spcAft>
                <a:spcPts val="800"/>
              </a:spcAft>
              <a:buClr>
                <a:srgbClr val="C96442"/>
              </a:buClr>
              <a:buChar char="•"/>
            </a:pPr>
            <a:r>
              <a:rPr sz="1500" b="1">
                <a:solidFill>
                  <a:srgbClr val="2F2C24"/>
                </a:solidFill>
                <a:latin typeface="Calibri"/>
              </a:rPr>
              <a:t>So sánh: </a:t>
            </a:r>
            <a:r>
              <a:rPr sz="1500" b="0">
                <a:solidFill>
                  <a:srgbClr val="2F2C24"/>
                </a:solidFill>
                <a:latin typeface="Calibri"/>
              </a:rPr>
              <a:t>BM25 · Dense (multilingual-e5, bge-base) · Hybrid RRF</a:t>
            </a:r>
          </a:p>
          <a:p>
            <a:pPr marL="228600" indent="-228600">
              <a:spcAft>
                <a:spcPts val="800"/>
              </a:spcAft>
              <a:buClr>
                <a:srgbClr val="C96442"/>
              </a:buClr>
              <a:buChar char="•"/>
            </a:pPr>
            <a:r>
              <a:rPr sz="1500" b="1">
                <a:solidFill>
                  <a:srgbClr val="2F2C24"/>
                </a:solidFill>
                <a:latin typeface="Calibri"/>
              </a:rPr>
              <a:t>Dense / Hybrid: </a:t>
            </a:r>
            <a:r>
              <a:rPr sz="1500" b="0">
                <a:solidFill>
                  <a:srgbClr val="2F2C24"/>
                </a:solidFill>
                <a:latin typeface="Calibri"/>
              </a:rPr>
              <a:t>chạy scripts/evaluate.py trên máy GPU, rồi chạy lại reports/build_slides.py để slide tự điền biểu đồ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71600"/>
            <a:ext cx="3410712" cy="128016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4630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C96442"/>
                </a:solidFill>
                <a:latin typeface="Cambria"/>
              </a:rPr>
              <a:t>95%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2140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bắt được tiêu đề bị biến đổi (dedup)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834640"/>
            <a:ext cx="3410712" cy="128016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292608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C96442"/>
                </a:solidFill>
                <a:latin typeface="Cambria"/>
              </a:rPr>
              <a:t>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58444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báo trùng nhầm trên 492 tiêu đề thật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297680"/>
            <a:ext cx="3410712" cy="128016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438912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C96442"/>
                </a:solidFill>
                <a:latin typeface="Cambria"/>
              </a:rPr>
              <a:t>37%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04748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E695C"/>
                </a:solidFill>
                <a:latin typeface="Calibri"/>
              </a:rPr>
              <a:t>bài liên quan cùng category (ngẫu nhiên 14%)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E695C"/>
                </a:solidFill>
                <a:latin typeface="Calibri"/>
              </a:rPr>
              <a:t>ScholarLens · Graph RAG cho bài báo arXiv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E695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2F2C24"/>
                </a:solidFill>
                <a:latin typeface="Cambria"/>
              </a:rPr>
              <a:t>9. Trình bày giải pháp: giao diện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E695C"/>
                </a:solidFill>
                <a:latin typeface="Calibri"/>
              </a:rPr>
              <a:t>ScholarLens · Graph RAG cho bài báo arXiv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E695C"/>
                </a:solidFill>
                <a:latin typeface="Calibri"/>
              </a:rPr>
              <a:t>13</a:t>
            </a:r>
          </a:p>
        </p:txBody>
      </p:sp>
      <p:pic>
        <p:nvPicPr>
          <p:cNvPr id="16" name="Picture 15" descr="app_chat_v2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80160"/>
            <a:ext cx="5316322" cy="4663440"/>
          </a:xfrm>
          <a:prstGeom prst="rect">
            <a:avLst/>
          </a:prstGeom>
          <a:ln>
            <a:solidFill>
              <a:srgbClr val="D9D5C8"/>
            </a:solidFill>
          </a:ln>
        </p:spPr>
      </p:pic>
      <p:pic>
        <p:nvPicPr>
          <p:cNvPr id="17" name="Picture 16" descr="app_graph_full_v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9282" y="1280160"/>
            <a:ext cx="5503773" cy="3538140"/>
          </a:xfrm>
          <a:prstGeom prst="rect">
            <a:avLst/>
          </a:prstGeom>
          <a:ln>
            <a:solidFill>
              <a:srgbClr val="D9D5C8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6139282" y="5046900"/>
            <a:ext cx="5503773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400"/>
              </a:spcAft>
              <a:buClr>
                <a:srgbClr val="C96442"/>
              </a:buClr>
              <a:buChar char="•"/>
            </a:pPr>
            <a:r>
              <a:rPr sz="1400" b="1">
                <a:solidFill>
                  <a:srgbClr val="2F2C24"/>
                </a:solidFill>
                <a:latin typeface="Calibri"/>
              </a:rPr>
              <a:t>Thanh bên thu gọn được: </a:t>
            </a:r>
            <a:r>
              <a:rPr sz="1400" b="0">
                <a:solidFill>
                  <a:srgbClr val="2F2C24"/>
                </a:solidFill>
                <a:latin typeface="Calibri"/>
              </a:rPr>
              <a:t>lịch sử hội thoại và kết nối LLM</a:t>
            </a:r>
          </a:p>
          <a:p>
            <a:pPr marL="228600" indent="-228600">
              <a:spcAft>
                <a:spcPts val="400"/>
              </a:spcAft>
              <a:buClr>
                <a:srgbClr val="C96442"/>
              </a:buClr>
              <a:buChar char="•"/>
            </a:pPr>
            <a:r>
              <a:rPr sz="1400" b="1">
                <a:solidFill>
                  <a:srgbClr val="2F2C24"/>
                </a:solidFill>
                <a:latin typeface="Calibri"/>
              </a:rPr>
              <a:t>Mỗi câu trả lời: </a:t>
            </a:r>
            <a:r>
              <a:rPr sz="1400" b="0">
                <a:solidFill>
                  <a:srgbClr val="2F2C24"/>
                </a:solidFill>
                <a:latin typeface="Calibri"/>
              </a:rPr>
              <a:t>trích dẫn [n], danh sách nguồn, đồ thị riêng</a:t>
            </a:r>
          </a:p>
          <a:p>
            <a:pPr marL="228600" indent="-228600">
              <a:spcAft>
                <a:spcPts val="400"/>
              </a:spcAft>
              <a:buClr>
                <a:srgbClr val="C96442"/>
              </a:buClr>
              <a:buChar char="•"/>
            </a:pPr>
            <a:r>
              <a:rPr sz="1400" b="1">
                <a:solidFill>
                  <a:srgbClr val="2F2C24"/>
                </a:solidFill>
                <a:latin typeface="Calibri"/>
              </a:rPr>
              <a:t>Đồ thị toàn màn hình: </a:t>
            </a:r>
            <a:r>
              <a:rPr sz="1400" b="0">
                <a:solidFill>
                  <a:srgbClr val="2F2C24"/>
                </a:solidFill>
                <a:latin typeface="Calibri"/>
              </a:rPr>
              <a:t>bấm vào từng nút để xem chi tiết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2F2C24"/>
                </a:solidFill>
                <a:latin typeface="Cambria"/>
              </a:rPr>
              <a:t>9. Trình bày giải pháp: kịch bản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1094415" cy="749808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" y="1517904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23774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libri"/>
              </a:rPr>
              <a:t>Thêm 1 bài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40" y="1371600"/>
            <a:ext cx="76809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6E695C"/>
                </a:solidFill>
                <a:latin typeface="Calibri"/>
              </a:rPr>
              <a:t>Kéo GraphRAG (2404.16130) vào cửa sổ → theo dõi 6 bước, bài tự thành focus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67712"/>
            <a:ext cx="11094415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2414016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67712"/>
            <a:ext cx="23774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libri"/>
              </a:rPr>
              <a:t>Hỏi về bài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267712"/>
            <a:ext cx="76809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6E695C"/>
                </a:solidFill>
                <a:latin typeface="Calibri"/>
              </a:rPr>
              <a:t>“Tóm tắt bài này”, “Phương pháp chính là gì?” → trả lời có [n], bấm [n] để xem nguồn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63824"/>
            <a:ext cx="11094415" cy="749808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31520" y="3310128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63824"/>
            <a:ext cx="23774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libri"/>
              </a:rPr>
              <a:t>Bài liên quan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163824"/>
            <a:ext cx="76809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6E695C"/>
                </a:solidFill>
                <a:latin typeface="Calibri"/>
              </a:rPr>
              <a:t>“Các bài liên quan đến bài này?” → danh sách + lý do, bấm ◎ Đồ thị, mở rộng toàn màn hình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59936"/>
            <a:ext cx="11094415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59936"/>
            <a:ext cx="23774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libri"/>
              </a:rPr>
              <a:t>Thêm trùng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4059936"/>
            <a:ext cx="76809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6E695C"/>
                </a:solidFill>
                <a:latin typeface="Calibri"/>
              </a:rPr>
              <a:t>Kéo lại cùng file → “đã có (trùng SHA-256)”, không embedding lại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56048"/>
            <a:ext cx="11094415" cy="749808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31520" y="5102352"/>
            <a:ext cx="457200" cy="457200"/>
          </a:xfrm>
          <a:prstGeom prst="ellipse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956048"/>
            <a:ext cx="23774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2F2C24"/>
                </a:solidFill>
                <a:latin typeface="Calibri"/>
              </a:rPr>
              <a:t>Thêm hàng loạt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4956048"/>
            <a:ext cx="76809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6E695C"/>
                </a:solidFill>
                <a:latin typeface="Calibri"/>
              </a:rPr>
              <a:t>Chọn 3 PDF còn lại → bảng trạng thái từng file, rồi “So sánh các bài vừa thêm”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E695C"/>
                </a:solidFill>
                <a:latin typeface="Calibri"/>
              </a:rPr>
              <a:t>ScholarLens · Graph RAG cho bài báo arXiv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E695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9. Kết luận và hướng phát triển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C96442"/>
                </a:solidFill>
                <a:latin typeface="Cambria"/>
              </a:rPr>
              <a:t>Đã làm được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303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1000"/>
              </a:spcAft>
              <a:buClr>
                <a:srgbClr val="C96442"/>
              </a:buClr>
              <a:buChar char="•"/>
            </a:pPr>
            <a:r>
              <a:rPr sz="1600" b="0">
                <a:solidFill>
                  <a:srgbClr val="E8E6DC"/>
                </a:solidFill>
                <a:latin typeface="Calibri"/>
              </a:rPr>
              <a:t>Đủ chuỗi chức năng: thu thập → xử lý → tìm kiếm → hỏi đáp, AI tự vận hành trên GPU</a:t>
            </a:r>
          </a:p>
          <a:p>
            <a:pPr marL="228600" indent="-228600">
              <a:spcAft>
                <a:spcPts val="1000"/>
              </a:spcAft>
              <a:buClr>
                <a:srgbClr val="C96442"/>
              </a:buClr>
              <a:buChar char="•"/>
            </a:pPr>
            <a:r>
              <a:rPr sz="1600" b="0">
                <a:solidFill>
                  <a:srgbClr val="E8E6DC"/>
                </a:solidFill>
                <a:latin typeface="Calibri"/>
              </a:rPr>
              <a:t>Thêm PDF tự động với 3 lần kiểm tra trùng</a:t>
            </a:r>
          </a:p>
          <a:p>
            <a:pPr marL="228600" indent="-228600">
              <a:spcAft>
                <a:spcPts val="1000"/>
              </a:spcAft>
              <a:buClr>
                <a:srgbClr val="C96442"/>
              </a:buClr>
              <a:buChar char="•"/>
            </a:pPr>
            <a:r>
              <a:rPr sz="1600" b="0">
                <a:solidFill>
                  <a:srgbClr val="E8E6DC"/>
                </a:solidFill>
                <a:latin typeface="Calibri"/>
              </a:rPr>
              <a:t>Tìm kiếm lai + Graph RAG trả lời có trích dẫn, giải thích được bài liên quan</a:t>
            </a:r>
          </a:p>
          <a:p>
            <a:pPr marL="228600" indent="-228600">
              <a:spcAft>
                <a:spcPts val="1000"/>
              </a:spcAft>
              <a:buClr>
                <a:srgbClr val="C96442"/>
              </a:buClr>
              <a:buChar char="•"/>
            </a:pPr>
            <a:r>
              <a:rPr sz="1600" b="0">
                <a:solidFill>
                  <a:srgbClr val="E8E6DC"/>
                </a:solidFill>
                <a:latin typeface="Calibri"/>
              </a:rPr>
              <a:t>Chạy được cả khi không có LLM (chế độ trích đoạn)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258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C96442"/>
                </a:solidFill>
                <a:latin typeface="Cambria"/>
              </a:rPr>
              <a:t>Hạn chế → hướng tiếp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212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1000"/>
              </a:spcAft>
              <a:buClr>
                <a:srgbClr val="C96442"/>
              </a:buClr>
              <a:buChar char="•"/>
            </a:pPr>
            <a:r>
              <a:rPr sz="1600" b="0">
                <a:solidFill>
                  <a:srgbClr val="E8E6DC"/>
                </a:solidFill>
                <a:latin typeface="Calibri"/>
              </a:rPr>
              <a:t>Parse PDF bằng heuristic → GROBID / Nougat cho bảng, công thức</a:t>
            </a:r>
          </a:p>
          <a:p>
            <a:pPr marL="228600" indent="-228600">
              <a:spcAft>
                <a:spcPts val="1000"/>
              </a:spcAft>
              <a:buClr>
                <a:srgbClr val="C96442"/>
              </a:buClr>
              <a:buChar char="•"/>
            </a:pPr>
            <a:r>
              <a:rPr sz="1600" b="0">
                <a:solidFill>
                  <a:srgbClr val="E8E6DC"/>
                </a:solidFill>
                <a:latin typeface="Calibri"/>
              </a:rPr>
              <a:t>Trích dẫn chỉ qua arXiv ID → khớp tiêu đề tài liệu tham khảo, Semantic Scholar API</a:t>
            </a:r>
          </a:p>
          <a:p>
            <a:pPr marL="228600" indent="-228600">
              <a:spcAft>
                <a:spcPts val="1000"/>
              </a:spcAft>
              <a:buClr>
                <a:srgbClr val="C96442"/>
              </a:buClr>
              <a:buChar char="•"/>
            </a:pPr>
            <a:r>
              <a:rPr sz="1600" b="0">
                <a:solidFill>
                  <a:srgbClr val="E8E6DC"/>
                </a:solidFill>
                <a:latin typeface="Calibri"/>
              </a:rPr>
              <a:t>Khái niệm bằng n-gram → trích thực thể, quan hệ bằng LLM (GraphRAG đầy đủ)</a:t>
            </a:r>
          </a:p>
          <a:p>
            <a:pPr marL="228600" indent="-228600">
              <a:spcAft>
                <a:spcPts val="1000"/>
              </a:spcAft>
              <a:buClr>
                <a:srgbClr val="C96442"/>
              </a:buClr>
              <a:buChar char="•"/>
            </a:pPr>
            <a:r>
              <a:rPr sz="1600" b="0">
                <a:solidFill>
                  <a:srgbClr val="E8E6DC"/>
                </a:solidFill>
                <a:latin typeface="Calibri"/>
              </a:rPr>
              <a:t>Chưa có reranker → cross-encoder bge-reranker cho top-20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A09C90"/>
                </a:solidFill>
                <a:latin typeface="Calibri"/>
              </a:rPr>
              <a:t>Cảm ơn thầy cô và các bạn đã lắng nghe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54</cp:revision>
  <dcterms:created xsi:type="dcterms:W3CDTF">2013-01-27T09:14:16Z</dcterms:created>
  <dcterms:modified xsi:type="dcterms:W3CDTF">2026-10-23T17:57:48Z</dcterms:modified>
  <cp:category/>
</cp:coreProperties>
</file>